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58" r:id="rId7"/>
    <p:sldId id="295" r:id="rId8"/>
    <p:sldId id="273" r:id="rId9"/>
    <p:sldId id="284" r:id="rId10"/>
    <p:sldId id="289" r:id="rId11"/>
    <p:sldId id="287" r:id="rId12"/>
    <p:sldId id="285" r:id="rId13"/>
    <p:sldId id="290" r:id="rId14"/>
    <p:sldId id="274" r:id="rId15"/>
    <p:sldId id="292" r:id="rId16"/>
    <p:sldId id="296" r:id="rId17"/>
    <p:sldId id="297" r:id="rId18"/>
    <p:sldId id="298" r:id="rId19"/>
    <p:sldId id="299" r:id="rId20"/>
    <p:sldId id="300" r:id="rId21"/>
    <p:sldId id="303" r:id="rId22"/>
    <p:sldId id="301" r:id="rId23"/>
    <p:sldId id="275" r:id="rId24"/>
    <p:sldId id="302" r:id="rId25"/>
    <p:sldId id="260" r:id="rId26"/>
  </p:sldIdLst>
  <p:sldSz cx="12192000" cy="6858000"/>
  <p:notesSz cx="9144000" cy="6858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6E6B346-0D77-4629-9198-53E8E310D1A6}">
          <p14:sldIdLst>
            <p14:sldId id="256"/>
            <p14:sldId id="257"/>
            <p14:sldId id="258"/>
            <p14:sldId id="295"/>
            <p14:sldId id="273"/>
            <p14:sldId id="284"/>
            <p14:sldId id="289"/>
            <p14:sldId id="287"/>
            <p14:sldId id="285"/>
            <p14:sldId id="290"/>
            <p14:sldId id="274"/>
            <p14:sldId id="292"/>
            <p14:sldId id="296"/>
            <p14:sldId id="297"/>
            <p14:sldId id="298"/>
            <p14:sldId id="299"/>
            <p14:sldId id="300"/>
            <p14:sldId id="303"/>
            <p14:sldId id="301"/>
            <p14:sldId id="275"/>
            <p14:sldId id="302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B91"/>
    <a:srgbClr val="4AAD52"/>
    <a:srgbClr val="949A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700" autoAdjust="0"/>
  </p:normalViewPr>
  <p:slideViewPr>
    <p:cSldViewPr snapToGrid="0">
      <p:cViewPr varScale="1">
        <p:scale>
          <a:sx n="107" d="100"/>
          <a:sy n="107" d="100"/>
        </p:scale>
        <p:origin x="75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6" d="100"/>
          <a:sy n="116" d="100"/>
        </p:scale>
        <p:origin x="-606" y="-108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11797-CFDF-4E30-A4E1-907D06865D91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00F1D-CACA-45A5-AF19-B7B89F5FE9E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165811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53CF7-B783-CB4E-AE57-B32CF4EB4661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11DF7-BC48-3B42-8272-67B08E94DE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73365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  <p:pic>
        <p:nvPicPr>
          <p:cNvPr id="5" name="Imagen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52531" y="2199788"/>
            <a:ext cx="7086939" cy="245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3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gradFill>
          <a:gsLst>
            <a:gs pos="0">
              <a:srgbClr val="4AAD52"/>
            </a:gs>
            <a:gs pos="100000">
              <a:srgbClr val="265B9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019493"/>
            <a:ext cx="9144000" cy="2387600"/>
          </a:xfrm>
        </p:spPr>
        <p:txBody>
          <a:bodyPr anchor="b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C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MATERIA</a:t>
            </a:r>
            <a:endParaRPr lang="es-EC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72776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/>
            <a:r>
              <a:rPr lang="es-EC" dirty="0">
                <a:solidFill>
                  <a:schemeClr val="bg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TEMA DE CLASE</a:t>
            </a:r>
          </a:p>
          <a:p>
            <a:pPr algn="ctr"/>
            <a:r>
              <a:rPr lang="es-EC" dirty="0" err="1">
                <a:solidFill>
                  <a:schemeClr val="bg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Msc</a:t>
            </a:r>
            <a:r>
              <a:rPr lang="es-EC" dirty="0">
                <a:solidFill>
                  <a:schemeClr val="bg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. Nombre y Apellido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  <p:grpSp>
        <p:nvGrpSpPr>
          <p:cNvPr id="7" name="Grupo 5"/>
          <p:cNvGrpSpPr/>
          <p:nvPr userDrawn="1"/>
        </p:nvGrpSpPr>
        <p:grpSpPr>
          <a:xfrm>
            <a:off x="526949" y="351741"/>
            <a:ext cx="11665051" cy="6593941"/>
            <a:chOff x="526949" y="264059"/>
            <a:chExt cx="11665051" cy="6593941"/>
          </a:xfrm>
        </p:grpSpPr>
        <p:pic>
          <p:nvPicPr>
            <p:cNvPr id="8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949" y="264059"/>
              <a:ext cx="1509669" cy="1231658"/>
            </a:xfrm>
            <a:prstGeom prst="rect">
              <a:avLst/>
            </a:prstGeom>
          </p:spPr>
        </p:pic>
        <p:pic>
          <p:nvPicPr>
            <p:cNvPr id="9" name="Imagen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2577" y="5685905"/>
              <a:ext cx="1759423" cy="1172095"/>
            </a:xfrm>
            <a:prstGeom prst="rect">
              <a:avLst/>
            </a:prstGeom>
          </p:spPr>
        </p:pic>
        <p:cxnSp>
          <p:nvCxnSpPr>
            <p:cNvPr id="10" name="Conector recto 4"/>
            <p:cNvCxnSpPr/>
            <p:nvPr/>
          </p:nvCxnSpPr>
          <p:spPr>
            <a:xfrm>
              <a:off x="1490750" y="3476025"/>
              <a:ext cx="9210501" cy="0"/>
            </a:xfrm>
            <a:prstGeom prst="line">
              <a:avLst/>
            </a:prstGeom>
            <a:ln w="539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995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5414" y="1452563"/>
            <a:ext cx="10769771" cy="823912"/>
          </a:xfrm>
        </p:spPr>
        <p:txBody>
          <a:bodyPr anchor="b">
            <a:normAutofit/>
          </a:bodyPr>
          <a:lstStyle>
            <a:lvl1pPr marL="0" indent="0">
              <a:buNone/>
              <a:defRPr sz="4000" b="1">
                <a:solidFill>
                  <a:srgbClr val="265B9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C" sz="4000" b="1" dirty="0">
                <a:solidFill>
                  <a:srgbClr val="26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DEL TEMA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98516" y="3200401"/>
            <a:ext cx="10740044" cy="2989262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8515" y="2435543"/>
            <a:ext cx="10756669" cy="513397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rgbClr val="4AAD5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C" b="1" dirty="0">
                <a:solidFill>
                  <a:srgbClr val="4AAD52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SUBTÍTULO: (OPINION PRO SEMI BOLD)</a:t>
            </a:r>
            <a:endParaRPr lang="es-ES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598516" y="6297526"/>
            <a:ext cx="2743200" cy="365125"/>
          </a:xfrm>
        </p:spPr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276340"/>
            <a:ext cx="4114800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287770"/>
            <a:ext cx="2743200" cy="365125"/>
          </a:xfrm>
        </p:spPr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  <p:grpSp>
        <p:nvGrpSpPr>
          <p:cNvPr id="10" name="Grupo 1"/>
          <p:cNvGrpSpPr/>
          <p:nvPr userDrawn="1"/>
        </p:nvGrpSpPr>
        <p:grpSpPr>
          <a:xfrm>
            <a:off x="0" y="-3759"/>
            <a:ext cx="12192000" cy="1088967"/>
            <a:chOff x="0" y="-1"/>
            <a:chExt cx="12192000" cy="1088967"/>
          </a:xfrm>
        </p:grpSpPr>
        <p:sp>
          <p:nvSpPr>
            <p:cNvPr id="11" name="Rectángulo 2"/>
            <p:cNvSpPr/>
            <p:nvPr/>
          </p:nvSpPr>
          <p:spPr>
            <a:xfrm>
              <a:off x="0" y="-1"/>
              <a:ext cx="12192000" cy="1088967"/>
            </a:xfrm>
            <a:prstGeom prst="rect">
              <a:avLst/>
            </a:prstGeom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pic>
          <p:nvPicPr>
            <p:cNvPr id="12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135" y="155993"/>
              <a:ext cx="952358" cy="776978"/>
            </a:xfrm>
            <a:prstGeom prst="rect">
              <a:avLst/>
            </a:prstGeom>
          </p:spPr>
        </p:pic>
        <p:pic>
          <p:nvPicPr>
            <p:cNvPr id="13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4727" y="162336"/>
              <a:ext cx="1147273" cy="764292"/>
            </a:xfrm>
            <a:prstGeom prst="rect">
              <a:avLst/>
            </a:prstGeom>
          </p:spPr>
        </p:pic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783080" y="95085"/>
            <a:ext cx="8446770" cy="819315"/>
          </a:xfrm>
        </p:spPr>
        <p:txBody>
          <a:bodyPr>
            <a:normAutofit/>
          </a:bodyPr>
          <a:lstStyle>
            <a:lvl1pPr algn="ctr"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C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MATERIA</a:t>
            </a:r>
            <a:endParaRPr lang="es-EC" dirty="0"/>
          </a:p>
        </p:txBody>
      </p:sp>
      <p:sp>
        <p:nvSpPr>
          <p:cNvPr id="15" name="Rectángulo 12"/>
          <p:cNvSpPr/>
          <p:nvPr userDrawn="1"/>
        </p:nvSpPr>
        <p:spPr>
          <a:xfrm>
            <a:off x="0" y="6708371"/>
            <a:ext cx="12192000" cy="299258"/>
          </a:xfrm>
          <a:prstGeom prst="rect">
            <a:avLst/>
          </a:prstGeom>
          <a:gradFill>
            <a:gsLst>
              <a:gs pos="0">
                <a:srgbClr val="4AAD52"/>
              </a:gs>
              <a:gs pos="100000">
                <a:srgbClr val="265B91"/>
              </a:gs>
            </a:gsLst>
            <a:lin ang="27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6" name="Conector recto 8"/>
          <p:cNvCxnSpPr/>
          <p:nvPr userDrawn="1"/>
        </p:nvCxnSpPr>
        <p:spPr>
          <a:xfrm>
            <a:off x="598516" y="2337181"/>
            <a:ext cx="10756669" cy="0"/>
          </a:xfrm>
          <a:prstGeom prst="line">
            <a:avLst/>
          </a:prstGeom>
          <a:ln w="53975"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07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928314" y="124682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C" sz="4000" b="1" dirty="0">
                <a:solidFill>
                  <a:srgbClr val="26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DEL TEMA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497830" y="434435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  <p:grpSp>
        <p:nvGrpSpPr>
          <p:cNvPr id="10" name="Grupo 1"/>
          <p:cNvGrpSpPr/>
          <p:nvPr userDrawn="1"/>
        </p:nvGrpSpPr>
        <p:grpSpPr>
          <a:xfrm>
            <a:off x="0" y="-3759"/>
            <a:ext cx="12192000" cy="1088967"/>
            <a:chOff x="0" y="-1"/>
            <a:chExt cx="12192000" cy="1088967"/>
          </a:xfrm>
        </p:grpSpPr>
        <p:sp>
          <p:nvSpPr>
            <p:cNvPr id="11" name="Rectángulo 2"/>
            <p:cNvSpPr/>
            <p:nvPr/>
          </p:nvSpPr>
          <p:spPr>
            <a:xfrm>
              <a:off x="0" y="-1"/>
              <a:ext cx="12192000" cy="1088967"/>
            </a:xfrm>
            <a:prstGeom prst="rect">
              <a:avLst/>
            </a:prstGeom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pic>
          <p:nvPicPr>
            <p:cNvPr id="12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135" y="155993"/>
              <a:ext cx="952358" cy="776978"/>
            </a:xfrm>
            <a:prstGeom prst="rect">
              <a:avLst/>
            </a:prstGeom>
          </p:spPr>
        </p:pic>
        <p:pic>
          <p:nvPicPr>
            <p:cNvPr id="13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4727" y="162336"/>
              <a:ext cx="1147273" cy="764292"/>
            </a:xfrm>
            <a:prstGeom prst="rect">
              <a:avLst/>
            </a:prstGeom>
          </p:spPr>
        </p:pic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783080" y="95085"/>
            <a:ext cx="8446770" cy="819315"/>
          </a:xfrm>
        </p:spPr>
        <p:txBody>
          <a:bodyPr>
            <a:normAutofit/>
          </a:bodyPr>
          <a:lstStyle>
            <a:lvl1pPr algn="ctr"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C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MATERIA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4652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8516" y="3040380"/>
            <a:ext cx="10755284" cy="2393632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116320"/>
            <a:ext cx="2743200" cy="365125"/>
          </a:xfrm>
        </p:spPr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082030"/>
            <a:ext cx="4114800" cy="365125"/>
          </a:xfrm>
        </p:spPr>
        <p:txBody>
          <a:bodyPr/>
          <a:lstStyle/>
          <a:p>
            <a:endParaRPr lang="es-EC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082030"/>
            <a:ext cx="2743200" cy="365125"/>
          </a:xfrm>
        </p:spPr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  <p:grpSp>
        <p:nvGrpSpPr>
          <p:cNvPr id="7" name="Grupo 1"/>
          <p:cNvGrpSpPr/>
          <p:nvPr userDrawn="1"/>
        </p:nvGrpSpPr>
        <p:grpSpPr>
          <a:xfrm>
            <a:off x="0" y="-3759"/>
            <a:ext cx="12192000" cy="1088967"/>
            <a:chOff x="0" y="-1"/>
            <a:chExt cx="12192000" cy="1088967"/>
          </a:xfrm>
        </p:grpSpPr>
        <p:sp>
          <p:nvSpPr>
            <p:cNvPr id="8" name="Rectángulo 2"/>
            <p:cNvSpPr/>
            <p:nvPr/>
          </p:nvSpPr>
          <p:spPr>
            <a:xfrm>
              <a:off x="0" y="-1"/>
              <a:ext cx="12192000" cy="1088967"/>
            </a:xfrm>
            <a:prstGeom prst="rect">
              <a:avLst/>
            </a:prstGeom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pic>
          <p:nvPicPr>
            <p:cNvPr id="9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135" y="155993"/>
              <a:ext cx="952358" cy="776978"/>
            </a:xfrm>
            <a:prstGeom prst="rect">
              <a:avLst/>
            </a:prstGeom>
          </p:spPr>
        </p:pic>
        <p:pic>
          <p:nvPicPr>
            <p:cNvPr id="10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4727" y="162336"/>
              <a:ext cx="1147273" cy="764292"/>
            </a:xfrm>
            <a:prstGeom prst="rect">
              <a:avLst/>
            </a:prstGeom>
          </p:spPr>
        </p:pic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686050" y="152236"/>
            <a:ext cx="6812280" cy="776978"/>
          </a:xfrm>
        </p:spPr>
        <p:txBody>
          <a:bodyPr>
            <a:normAutofit/>
          </a:bodyPr>
          <a:lstStyle>
            <a:lvl1pPr algn="ctr">
              <a:defRPr sz="1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TITULO DE LA MATERIA</a:t>
            </a:r>
            <a:endParaRPr lang="es-EC" dirty="0"/>
          </a:p>
        </p:txBody>
      </p:sp>
      <p:sp>
        <p:nvSpPr>
          <p:cNvPr id="12" name="Rectángulo 12"/>
          <p:cNvSpPr/>
          <p:nvPr userDrawn="1"/>
        </p:nvSpPr>
        <p:spPr>
          <a:xfrm>
            <a:off x="0" y="6570172"/>
            <a:ext cx="12192000" cy="299258"/>
          </a:xfrm>
          <a:prstGeom prst="rect">
            <a:avLst/>
          </a:prstGeom>
          <a:gradFill>
            <a:gsLst>
              <a:gs pos="0">
                <a:srgbClr val="4AAD52"/>
              </a:gs>
              <a:gs pos="100000">
                <a:srgbClr val="265B91"/>
              </a:gs>
            </a:gsLst>
            <a:lin ang="27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3" name="Conector recto 8"/>
          <p:cNvCxnSpPr/>
          <p:nvPr userDrawn="1"/>
        </p:nvCxnSpPr>
        <p:spPr>
          <a:xfrm>
            <a:off x="598516" y="2337181"/>
            <a:ext cx="10756669" cy="0"/>
          </a:xfrm>
          <a:prstGeom prst="line">
            <a:avLst/>
          </a:prstGeom>
          <a:ln w="53975"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9"/>
          <p:cNvSpPr txBox="1"/>
          <p:nvPr userDrawn="1"/>
        </p:nvSpPr>
        <p:spPr>
          <a:xfrm>
            <a:off x="598516" y="2527069"/>
            <a:ext cx="10756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>
                <a:solidFill>
                  <a:srgbClr val="4AAD52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rPr>
              <a:t>SUBTÍTULO: (OPINION PRO SEMI BOLD)</a:t>
            </a:r>
          </a:p>
        </p:txBody>
      </p:sp>
      <p:sp>
        <p:nvSpPr>
          <p:cNvPr id="16" name="Título 1"/>
          <p:cNvSpPr txBox="1">
            <a:spLocks/>
          </p:cNvSpPr>
          <p:nvPr userDrawn="1"/>
        </p:nvSpPr>
        <p:spPr>
          <a:xfrm>
            <a:off x="598516" y="1447636"/>
            <a:ext cx="6812280" cy="776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TITULO D</a:t>
            </a:r>
            <a:r>
              <a:rPr lang="es-EC" sz="1800" b="1" dirty="0">
                <a:solidFill>
                  <a:srgbClr val="26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DEL TEMA</a:t>
            </a:r>
          </a:p>
          <a:p>
            <a:r>
              <a:rPr lang="es-ES" dirty="0"/>
              <a:t>E LA MATERIA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6014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00725" y="1268095"/>
            <a:ext cx="10754460" cy="1325563"/>
          </a:xfrm>
        </p:spPr>
        <p:txBody>
          <a:bodyPr>
            <a:normAutofit/>
          </a:bodyPr>
          <a:lstStyle>
            <a:lvl1pPr>
              <a:defRPr sz="4000" b="1" baseline="0">
                <a:solidFill>
                  <a:srgbClr val="265B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TITULO DEL TEMA</a:t>
            </a:r>
            <a:endParaRPr lang="es-EC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  <p:grpSp>
        <p:nvGrpSpPr>
          <p:cNvPr id="10" name="Grupo 1"/>
          <p:cNvGrpSpPr/>
          <p:nvPr userDrawn="1"/>
        </p:nvGrpSpPr>
        <p:grpSpPr>
          <a:xfrm>
            <a:off x="0" y="-3759"/>
            <a:ext cx="12192000" cy="1088967"/>
            <a:chOff x="0" y="-1"/>
            <a:chExt cx="12192000" cy="1088967"/>
          </a:xfrm>
        </p:grpSpPr>
        <p:sp>
          <p:nvSpPr>
            <p:cNvPr id="11" name="Rectángulo 2"/>
            <p:cNvSpPr/>
            <p:nvPr/>
          </p:nvSpPr>
          <p:spPr>
            <a:xfrm>
              <a:off x="0" y="-1"/>
              <a:ext cx="12192000" cy="1088967"/>
            </a:xfrm>
            <a:prstGeom prst="rect">
              <a:avLst/>
            </a:prstGeom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pic>
          <p:nvPicPr>
            <p:cNvPr id="12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135" y="155993"/>
              <a:ext cx="952358" cy="776978"/>
            </a:xfrm>
            <a:prstGeom prst="rect">
              <a:avLst/>
            </a:prstGeom>
          </p:spPr>
        </p:pic>
        <p:pic>
          <p:nvPicPr>
            <p:cNvPr id="13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44727" y="162336"/>
              <a:ext cx="1147273" cy="764292"/>
            </a:xfrm>
            <a:prstGeom prst="rect">
              <a:avLst/>
            </a:prstGeom>
          </p:spPr>
        </p:pic>
      </p:grpSp>
      <p:sp>
        <p:nvSpPr>
          <p:cNvPr id="14" name="CuadroTexto 14"/>
          <p:cNvSpPr txBox="1"/>
          <p:nvPr userDrawn="1"/>
        </p:nvSpPr>
        <p:spPr>
          <a:xfrm>
            <a:off x="2261062" y="268376"/>
            <a:ext cx="778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MATERIA</a:t>
            </a:r>
          </a:p>
        </p:txBody>
      </p:sp>
      <p:cxnSp>
        <p:nvCxnSpPr>
          <p:cNvPr id="15" name="Conector recto 8"/>
          <p:cNvCxnSpPr/>
          <p:nvPr userDrawn="1"/>
        </p:nvCxnSpPr>
        <p:spPr>
          <a:xfrm>
            <a:off x="598516" y="2337181"/>
            <a:ext cx="10756669" cy="0"/>
          </a:xfrm>
          <a:prstGeom prst="line">
            <a:avLst/>
          </a:prstGeom>
          <a:ln w="53975">
            <a:gradFill>
              <a:gsLst>
                <a:gs pos="0">
                  <a:srgbClr val="4AAD52"/>
                </a:gs>
                <a:gs pos="100000">
                  <a:srgbClr val="265B9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/>
          <p:cNvSpPr>
            <a:spLocks noGrp="1"/>
          </p:cNvSpPr>
          <p:nvPr>
            <p:ph sz="half" idx="1"/>
          </p:nvPr>
        </p:nvSpPr>
        <p:spPr>
          <a:xfrm>
            <a:off x="598515" y="2740025"/>
            <a:ext cx="10756669" cy="3317875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366214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gradFill>
          <a:gsLst>
            <a:gs pos="0">
              <a:srgbClr val="4AAD52"/>
            </a:gs>
            <a:gs pos="100000">
              <a:srgbClr val="265B9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76263"/>
            <a:ext cx="10515600" cy="210978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54710" y="425799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  <p:grpSp>
        <p:nvGrpSpPr>
          <p:cNvPr id="7" name="Grupo 4"/>
          <p:cNvGrpSpPr/>
          <p:nvPr userDrawn="1"/>
        </p:nvGrpSpPr>
        <p:grpSpPr>
          <a:xfrm>
            <a:off x="2223893" y="2813171"/>
            <a:ext cx="7819215" cy="1231658"/>
            <a:chOff x="2223893" y="2813171"/>
            <a:chExt cx="7819215" cy="1231658"/>
          </a:xfrm>
        </p:grpSpPr>
        <p:pic>
          <p:nvPicPr>
            <p:cNvPr id="8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3893" y="2813171"/>
              <a:ext cx="1509669" cy="1231658"/>
            </a:xfrm>
            <a:prstGeom prst="rect">
              <a:avLst/>
            </a:prstGeom>
          </p:spPr>
        </p:pic>
        <p:pic>
          <p:nvPicPr>
            <p:cNvPr id="9" name="Imagen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3685" y="2842953"/>
              <a:ext cx="1759423" cy="1172095"/>
            </a:xfrm>
            <a:prstGeom prst="rect">
              <a:avLst/>
            </a:prstGeom>
          </p:spPr>
        </p:pic>
        <p:sp>
          <p:nvSpPr>
            <p:cNvPr id="10" name="CuadroTexto 3"/>
            <p:cNvSpPr txBox="1"/>
            <p:nvPr/>
          </p:nvSpPr>
          <p:spPr>
            <a:xfrm>
              <a:off x="4374547" y="3044280"/>
              <a:ext cx="34429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¡GRACIAS!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1641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363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8343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422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68710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7753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98C51-975A-47E7-B82D-7B357E560500}" type="datetimeFigureOut">
              <a:rPr lang="es-EC" smtClean="0"/>
              <a:t>8/10/2026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71FD0-766A-4664-840B-44A55B7D881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8330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3" r:id="rId3"/>
    <p:sldLayoutId id="2147483660" r:id="rId4"/>
    <p:sldLayoutId id="2147483650" r:id="rId5"/>
    <p:sldLayoutId id="2147483654" r:id="rId6"/>
    <p:sldLayoutId id="2147483651" r:id="rId7"/>
    <p:sldLayoutId id="2147483652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26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24000" y="3980432"/>
            <a:ext cx="9144000" cy="1655762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Century Gothic" panose="020B0502020202020204" pitchFamily="34" charset="0"/>
                <a:cs typeface="Arial" panose="020B0604020202020204" pitchFamily="34" charset="0"/>
              </a:rPr>
              <a:t>Habilidades comunicativas, escucha y comunicación no verbal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2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Century Gothic" panose="020B0502020202020204" pitchFamily="34" charset="0"/>
                <a:cs typeface="Arial" panose="020B0604020202020204" pitchFamily="34" charset="0"/>
              </a:rPr>
              <a:t>Psicología sanitaria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2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Century Gothic" panose="020B0502020202020204" pitchFamily="34" charset="0"/>
                <a:cs typeface="Arial" panose="020B0604020202020204" pitchFamily="34" charset="0"/>
              </a:rPr>
              <a:t>Proceso comunicativo sanitario</a:t>
            </a:r>
          </a:p>
        </p:txBody>
      </p:sp>
    </p:spTree>
    <p:extLst>
      <p:ext uri="{BB962C8B-B14F-4D97-AF65-F5344CB8AC3E}">
        <p14:creationId xmlns:p14="http://schemas.microsoft.com/office/powerpoint/2010/main" val="2310480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>
          <a:xfrm>
            <a:off x="585414" y="1215189"/>
            <a:ext cx="10769771" cy="1061286"/>
          </a:xfrm>
        </p:spPr>
        <p:txBody>
          <a:bodyPr>
            <a:normAutofit fontScale="92500"/>
          </a:bodyPr>
          <a:lstStyle/>
          <a:p>
            <a:pPr algn="ctr"/>
            <a:r>
              <a:rPr lang="es-MX" sz="4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s-EC" dirty="0">
                <a:latin typeface="Century Gothic" panose="020B0502020202020204" pitchFamily="34" charset="0"/>
              </a:rPr>
              <a:t>Definición de Habilidades Comunicativas</a:t>
            </a:r>
            <a:endParaRPr lang="es-EC" sz="4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half" idx="2"/>
          </p:nvPr>
        </p:nvSpPr>
        <p:spPr>
          <a:xfrm>
            <a:off x="585414" y="3060530"/>
            <a:ext cx="7870430" cy="410789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MX" sz="2000" dirty="0">
                <a:latin typeface="Century Gothic" panose="020B0502020202020204" pitchFamily="34" charset="0"/>
              </a:rPr>
              <a:t>La comunicación efectiva es la capacidad de transmitir información de manera clara y eficiente.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s-MX" sz="2000" dirty="0">
              <a:latin typeface="Century Gothic" panose="020B0502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MX" sz="2000" dirty="0">
                <a:latin typeface="Century Gothic" panose="020B0502020202020204" pitchFamily="34" charset="0"/>
              </a:rPr>
              <a:t>Las habilidades comunicativas nos permiten expresar nuestras ideas y recibir las de otros de manera que ambos comprendan claramente el mensaje. </a:t>
            </a: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</p:spTree>
    <p:extLst>
      <p:ext uri="{BB962C8B-B14F-4D97-AF65-F5344CB8AC3E}">
        <p14:creationId xmlns:p14="http://schemas.microsoft.com/office/powerpoint/2010/main" val="270748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7704652-77B6-4880-BD5F-FCF53DB2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pic>
        <p:nvPicPr>
          <p:cNvPr id="1026" name="Picture 2" descr="Comunicación Efectiva">
            <a:extLst>
              <a:ext uri="{FF2B5EF4-FFF2-40B4-BE49-F238E27FC236}">
                <a16:creationId xmlns:a16="http://schemas.microsoft.com/office/drawing/2014/main" id="{A40208C3-24D2-4622-868A-82F20B100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244" y="1291471"/>
            <a:ext cx="5405758" cy="515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563EF12-756D-4540-9056-EE85125070CC}"/>
              </a:ext>
            </a:extLst>
          </p:cNvPr>
          <p:cNvSpPr txBox="1"/>
          <p:nvPr/>
        </p:nvSpPr>
        <p:spPr>
          <a:xfrm>
            <a:off x="923518" y="2669831"/>
            <a:ext cx="5582240" cy="338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C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Claridad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C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Conciso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C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Investigativo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C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C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C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Empático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C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Concreto</a:t>
            </a:r>
            <a:endParaRPr lang="es-EC" sz="2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C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Coherencia</a:t>
            </a:r>
          </a:p>
        </p:txBody>
      </p:sp>
      <p:sp>
        <p:nvSpPr>
          <p:cNvPr id="9" name="1 Marcador de texto">
            <a:extLst>
              <a:ext uri="{FF2B5EF4-FFF2-40B4-BE49-F238E27FC236}">
                <a16:creationId xmlns:a16="http://schemas.microsoft.com/office/drawing/2014/main" id="{44EF84C5-284A-47F5-AB64-F762ECC79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415" y="1215189"/>
            <a:ext cx="6258446" cy="1061286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s-MX" sz="4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Elementos Clave de la Comunicación Efectiva</a:t>
            </a:r>
            <a:endParaRPr lang="es-EC" sz="4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3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sz="30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Importancia de la Comunicación en la Gestión de Salud</a:t>
            </a:r>
            <a:endParaRPr lang="es-EC" sz="30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4321" y="2914568"/>
            <a:ext cx="6174088" cy="4320503"/>
          </a:xfrm>
        </p:spPr>
        <p:txBody>
          <a:bodyPr>
            <a:noAutofit/>
          </a:bodyPr>
          <a:lstStyle/>
          <a:p>
            <a:pPr marL="0" lvl="0" indent="0" algn="just">
              <a:buNone/>
              <a:tabLst>
                <a:tab pos="457200" algn="l"/>
              </a:tabLst>
            </a:pP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comunicación efectiva en la gestión de salud es crucial. Permite una mejor coordinación entre los equipos, mejora la relación con los pacientes y aumenta la eficiencia operativa. Una comunicación deficiente puede llevar a errores médicos, insatisfacción del paciente y problemas de coordinación.</a:t>
            </a:r>
            <a:endParaRPr lang="es-EC" sz="19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esglose de la comunicación | Los Institutos Nacionales de Salud">
            <a:extLst>
              <a:ext uri="{FF2B5EF4-FFF2-40B4-BE49-F238E27FC236}">
                <a16:creationId xmlns:a16="http://schemas.microsoft.com/office/drawing/2014/main" id="{30EBE13A-D176-4B2D-BDB5-01E392805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93" y="2731415"/>
            <a:ext cx="3424238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888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C" sz="40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Escucha Activa </a:t>
            </a:r>
            <a:endParaRPr lang="es-EC" sz="40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03695" y="2508855"/>
            <a:ext cx="6665329" cy="4145341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s-MX" sz="1900" dirty="0">
                <a:latin typeface="Century Gothic" panose="020B0502020202020204" pitchFamily="34" charset="0"/>
              </a:rPr>
              <a:t>La escucha activa es una parte fundamental de la comunicación efectiva. Escuchar activamente significa prestar atención completa y mostrar interés genuino en lo que la otra persona está diciendo.</a:t>
            </a:r>
          </a:p>
          <a:p>
            <a:pPr marL="457200" lvl="1" indent="0" algn="just">
              <a:buNone/>
            </a:pPr>
            <a:endParaRPr lang="es-MX" sz="1900" dirty="0">
              <a:latin typeface="Century Gothic" panose="020B0502020202020204" pitchFamily="34" charset="0"/>
            </a:endParaRPr>
          </a:p>
          <a:p>
            <a:pPr marL="457200" lvl="1" indent="0" algn="just">
              <a:buNone/>
            </a:pPr>
            <a:r>
              <a:rPr lang="es-MX" sz="1900" dirty="0">
                <a:latin typeface="Century Gothic" panose="020B0502020202020204" pitchFamily="34" charset="0"/>
              </a:rPr>
              <a:t>Esto no solo mejora nuestra comprensión del mensaje, sino que también fortalece nuestras relaciones interpersonales</a:t>
            </a:r>
            <a:r>
              <a:rPr lang="es-EC" sz="1900" dirty="0">
                <a:latin typeface="Century Gothic" panose="020B0502020202020204" pitchFamily="34" charset="0"/>
              </a:rPr>
              <a:t>. </a:t>
            </a:r>
          </a:p>
          <a:p>
            <a:pPr marL="457200" lvl="1" indent="0" algn="just">
              <a:buNone/>
            </a:pPr>
            <a:endParaRPr lang="es-EC" sz="1900" dirty="0">
              <a:latin typeface="Century Gothic" panose="020B0502020202020204" pitchFamily="34" charset="0"/>
            </a:endParaRPr>
          </a:p>
          <a:p>
            <a:pPr marL="457200" lvl="1" indent="0" algn="just">
              <a:buNone/>
            </a:pPr>
            <a:r>
              <a:rPr lang="es-MX" sz="1900" b="1" dirty="0">
                <a:latin typeface="Century Gothic" panose="020B0502020202020204" pitchFamily="34" charset="0"/>
              </a:rPr>
              <a:t>La escucha activa implica escuchar no solo las palabras, sino también el tono, la emoción y el lenguaje corporal del hablante.</a:t>
            </a:r>
            <a:endParaRPr lang="es-EC" sz="1900" b="1" dirty="0"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endParaRPr lang="es-EC" sz="1900" dirty="0"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endParaRPr lang="es-EC" sz="1900" dirty="0">
              <a:latin typeface="Century Gothic" panose="020B0502020202020204" pitchFamily="34" charset="0"/>
            </a:endParaRPr>
          </a:p>
        </p:txBody>
      </p:sp>
      <p:pic>
        <p:nvPicPr>
          <p:cNvPr id="3074" name="Picture 2" descr="La importancia de la escucha activa | Grow Consultora">
            <a:extLst>
              <a:ext uri="{FF2B5EF4-FFF2-40B4-BE49-F238E27FC236}">
                <a16:creationId xmlns:a16="http://schemas.microsoft.com/office/drawing/2014/main" id="{03506DDC-AF44-40A8-BA91-79A8E374EE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63"/>
          <a:stretch/>
        </p:blipFill>
        <p:spPr bwMode="auto">
          <a:xfrm>
            <a:off x="6742728" y="2814638"/>
            <a:ext cx="5275157" cy="275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16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C" sz="40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Técnicas de Escucha Activa</a:t>
            </a:r>
            <a:endParaRPr lang="es-EC" sz="40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9185" y="2543111"/>
            <a:ext cx="5497484" cy="383697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Parafrasear: Repetir lo que el otro ha dicho con nuestras propias palabras para confirmar nuestra comprensión.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Hacer preguntas abiertas: Fomentar la profundización en la conversación.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Mostrar señales no verbales: Asentir con la cabeza, mantener contacto visual.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Evitar interrupciones: Permitir que la otra persona termine sus ideas.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Estas técnicas nos ayudan a demostrar que estamos prestando atención y nos permiten captar mejor el mensaje del otro.</a:t>
            </a:r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4098" name="Picture 2" descr="Claves para mejorar la escucha activa (y que tus pacientes acepten su  presupuesto) - Brand&amp;Health - Marketing emocional para clínicas dentales y  médicas">
            <a:extLst>
              <a:ext uri="{FF2B5EF4-FFF2-40B4-BE49-F238E27FC236}">
                <a16:creationId xmlns:a16="http://schemas.microsoft.com/office/drawing/2014/main" id="{461AA962-1A6C-4F6B-9F33-FFAD56069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20" y="2543111"/>
            <a:ext cx="5365380" cy="357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112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AAF97EE-16AC-5D69-E6B3-136EC45DF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413" y="1271693"/>
            <a:ext cx="10769771" cy="823912"/>
          </a:xfrm>
        </p:spPr>
        <p:txBody>
          <a:bodyPr>
            <a:normAutofit/>
          </a:bodyPr>
          <a:lstStyle/>
          <a:p>
            <a:r>
              <a:rPr lang="es-MX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Beneficios de la Escucha Activa</a:t>
            </a:r>
            <a:endParaRPr lang="es-EC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3BC165-D19A-10FB-2A8C-FD0CDA75E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413" y="2858025"/>
            <a:ext cx="5287486" cy="3808742"/>
          </a:xfrm>
        </p:spPr>
        <p:txBody>
          <a:bodyPr>
            <a:noAutofit/>
          </a:bodyPr>
          <a:lstStyle/>
          <a:p>
            <a:pPr algn="just">
              <a:tabLst>
                <a:tab pos="457200" algn="l"/>
              </a:tabLst>
            </a:pP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Mejora la comprensión y la retención de la información</a:t>
            </a:r>
          </a:p>
          <a:p>
            <a:pPr algn="just">
              <a:tabLst>
                <a:tab pos="457200" algn="l"/>
              </a:tabLst>
            </a:pPr>
            <a:r>
              <a:rPr lang="es-MX" sz="1900" kern="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ortalece las relaciones interpersonales</a:t>
            </a:r>
          </a:p>
          <a:p>
            <a:pPr algn="just">
              <a:tabLst>
                <a:tab pos="457200" algn="l"/>
              </a:tabLst>
            </a:pPr>
            <a:r>
              <a:rPr lang="es-MX" sz="1900" kern="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omenta un ambiente de respeto y confianza. </a:t>
            </a:r>
          </a:p>
          <a:p>
            <a:pPr algn="just">
              <a:tabLst>
                <a:tab pos="457200" algn="l"/>
              </a:tabLst>
            </a:pP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la gestión de salud, una escucha activa puede mejora la comunicación con los pacientes y entre los miembros del equipo de salud, llevando a mejores resultados de salud.</a:t>
            </a:r>
            <a:endParaRPr lang="es-EC" sz="1900" dirty="0">
              <a:latin typeface="Century Gothic" panose="020B0502020202020204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4390A44-499B-078F-3492-C4631D6F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pic>
        <p:nvPicPr>
          <p:cNvPr id="5122" name="Picture 2" descr="CLAVES PARA MEJORAR LA ESCUCHA ACTIVA - Gamma Psicólogos">
            <a:extLst>
              <a:ext uri="{FF2B5EF4-FFF2-40B4-BE49-F238E27FC236}">
                <a16:creationId xmlns:a16="http://schemas.microsoft.com/office/drawing/2014/main" id="{76096EE5-B64D-48E3-BA10-ED2BAFE2E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475" y="2962427"/>
            <a:ext cx="4005411" cy="224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81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C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Comunicación No Verbal</a:t>
            </a:r>
            <a:endParaRPr lang="es-EC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516" y="2466474"/>
            <a:ext cx="6396173" cy="3723189"/>
          </a:xfrm>
        </p:spPr>
        <p:txBody>
          <a:bodyPr>
            <a:noAutofit/>
          </a:bodyPr>
          <a:lstStyle/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s-MX" sz="19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comunicación no verbal es la transmisión de mensajes sin el uso de palabras. Incluye gestos, expresiones faciales, postura, contacto visual y proxémica, que es el uso del espacio personal y la distancia.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endParaRPr lang="es-MX" sz="19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s-MX" sz="19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comunicación no verbal puede complementar, enfatizar o incluso sustituir a la comunicación verbal, y es una parte crucial de la comunicación efectiva.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endParaRPr lang="es-EC" sz="19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715233-1937-3A43-7FF4-9475D7B68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197" y="2545837"/>
            <a:ext cx="3863988" cy="386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551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s-MX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Componentes de la Comunicación No Verbal</a:t>
            </a:r>
            <a:endParaRPr lang="es-EC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5218" y="2466474"/>
            <a:ext cx="6780628" cy="3723189"/>
          </a:xfrm>
        </p:spPr>
        <p:txBody>
          <a:bodyPr>
            <a:noAutofit/>
          </a:bodyPr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s-MX" sz="19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Gestos: </a:t>
            </a: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Movimientos de manos y brazos que pueden enfatizar o sustituir palabras</a:t>
            </a:r>
            <a:r>
              <a:rPr lang="es-MX" sz="19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s-MX" sz="19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Expresiones faciales: </a:t>
            </a: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Reflejan nuestras emociones y pueden influir en cómo se percibe nuestro mensaje.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s-MX" sz="19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Postura: </a:t>
            </a: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forma en que nos posicionamos puede transmitir actitudes y emociones.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s-MX" sz="19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Contacto visual: </a:t>
            </a: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Mantener o evitar el contacto visual puede afectar la percepción de confianza y sinceridad.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s-MX" sz="19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Proxémica: </a:t>
            </a: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uso del espacio personal y la distancia puede influir en la comodidad y receptividad del mensaje.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10B6404-C163-C689-02A7-F0273B20C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14" y="2466474"/>
            <a:ext cx="4043362" cy="404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68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s-MX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Importancia de la Comunicación No Verbal</a:t>
            </a:r>
            <a:endParaRPr lang="es-EC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1127" y="2516710"/>
            <a:ext cx="6415026" cy="2989262"/>
          </a:xfrm>
        </p:spPr>
        <p:txBody>
          <a:bodyPr>
            <a:noAutofit/>
          </a:bodyPr>
          <a:lstStyle/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comunicación no verbal es esencial porque complementa y refuerza nuestro mensaje verbal.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Una comunicación no verbal inconsistente puede llevar a malentendidos y confusión. </a:t>
            </a:r>
          </a:p>
          <a:p>
            <a:pPr marL="0" lvl="0" indent="0" algn="just">
              <a:buNone/>
              <a:tabLst>
                <a:tab pos="457200" algn="l"/>
              </a:tabLst>
            </a:pPr>
            <a:r>
              <a:rPr lang="es-MX" sz="1900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Ejemplo:</a:t>
            </a:r>
            <a:r>
              <a:rPr lang="es-MX" sz="1900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 decimos que estamos abiertos a 	ideas, pero cruzamos los brazos y evitamos el 	contacto visual, el mensaje no verbal puede 	contradecir nuestras palabras.</a:t>
            </a:r>
          </a:p>
          <a:p>
            <a:pPr marL="0" indent="0" algn="just">
              <a:buNone/>
            </a:pPr>
            <a:endParaRPr lang="es-EC" sz="1900" dirty="0">
              <a:latin typeface="Century Gothic" panose="020B0502020202020204" pitchFamily="34" charset="0"/>
            </a:endParaRPr>
          </a:p>
        </p:txBody>
      </p:sp>
      <p:pic>
        <p:nvPicPr>
          <p:cNvPr id="4098" name="Picture 2" descr="Hombre pasando por un proceso de extracción de unidades foliculares">
            <a:extLst>
              <a:ext uri="{FF2B5EF4-FFF2-40B4-BE49-F238E27FC236}">
                <a16:creationId xmlns:a16="http://schemas.microsoft.com/office/drawing/2014/main" id="{E596C8CB-1904-D641-8149-84C492BC3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810" y="2516710"/>
            <a:ext cx="4247375" cy="367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036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Ejemplos de Comunicación No Verbal en la Gestión de Salud</a:t>
            </a:r>
            <a:endParaRPr lang="es-EC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5083" y="2598822"/>
            <a:ext cx="4818257" cy="2989262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Gestos de afirmación: Asentir con la cabeza para mostrar acuerdo o comprensión.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Contacto visual: Mantener el contacto visual para demostrar interés y atención.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EC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s-EC" sz="19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C" sz="1900" dirty="0">
              <a:latin typeface="Century Gothic" panose="020B0502020202020204" pitchFamily="34" charset="0"/>
            </a:endParaRPr>
          </a:p>
        </p:txBody>
      </p:sp>
      <p:pic>
        <p:nvPicPr>
          <p:cNvPr id="6146" name="Picture 2" descr="Los gestos que peor funcionan en la comunicación no verbal de un líder -  analisisnoverbal.com">
            <a:extLst>
              <a:ext uri="{FF2B5EF4-FFF2-40B4-BE49-F238E27FC236}">
                <a16:creationId xmlns:a16="http://schemas.microsoft.com/office/drawing/2014/main" id="{F58D00F0-693D-4367-8FEE-32EFBB29C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586" y="2701516"/>
            <a:ext cx="6888938" cy="360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12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4CEABA7-6465-4BFD-B4F5-912A46136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Categorías de Gestos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0381A6-56AF-4CA7-86F2-158B097986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30000"/>
              </a:lnSpc>
              <a:spcBef>
                <a:spcPts val="600"/>
              </a:spcBef>
            </a:pPr>
            <a:r>
              <a:rPr lang="es-EC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Gestos adaptadores: </a:t>
            </a:r>
            <a:r>
              <a:rPr lang="es-MX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Son l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os que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peor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funcionan en la comunicación. Suelen transmitir una imagen de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inseguridad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incongruente con la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templanza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deseable en un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líder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. Su impacto en el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inconsciente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del público es considerable, porque el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sistema límbico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de nuestro cerebro está programado genéticamente para procesar de forma automática este tipo de comportamientos no verbales.</a:t>
            </a:r>
            <a:endParaRPr lang="es-EC" dirty="0">
              <a:latin typeface="Century Gothic" panose="020B0502020202020204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FC6FF03-DF2E-448E-963C-38C19EF6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</p:spTree>
    <p:extLst>
      <p:ext uri="{BB962C8B-B14F-4D97-AF65-F5344CB8AC3E}">
        <p14:creationId xmlns:p14="http://schemas.microsoft.com/office/powerpoint/2010/main" val="139222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D4EB94F-BC47-4881-9A5D-1C0D4FCEA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Gestos Adaptadores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010D47-0100-4CD7-AC09-AEE1BF601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6519" y="2681926"/>
            <a:ext cx="5145466" cy="3718874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</a:pP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Morderse las uñas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es quizás uno de los adaptadores más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populares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y fácilmente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reconocible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 pero la variedad es casi infinita: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rascarse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tocarse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frotar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manosear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estrujar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o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manipular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de cualquier manera cualquier parte del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cuerpo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u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objeto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 son gestos adaptadores que suelen expresar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nerviosismo, ansiedad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e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inseguridad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. </a:t>
            </a:r>
            <a:endParaRPr lang="es-EC" dirty="0">
              <a:latin typeface="Century Gothic" panose="020B0502020202020204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13072E0-9FF2-4EC1-8FB2-D688519B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pic>
        <p:nvPicPr>
          <p:cNvPr id="7170" name="Picture 2" descr="Gestos adaptadores de Albert Rivera, el líder de Ciudadanos">
            <a:extLst>
              <a:ext uri="{FF2B5EF4-FFF2-40B4-BE49-F238E27FC236}">
                <a16:creationId xmlns:a16="http://schemas.microsoft.com/office/drawing/2014/main" id="{B10E517F-F609-464E-8052-D8786414C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985" y="2958152"/>
            <a:ext cx="6493496" cy="3246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279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CFB4A99-AD8B-4D62-8FD3-EEF18B546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>
                <a:latin typeface="Century Gothic" panose="020B0502020202020204" pitchFamily="34" charset="0"/>
              </a:rPr>
              <a:t>Gestos de Relajación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8636D5-B6F6-46C2-ADDD-B53B3F1D5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8804" y="2810662"/>
            <a:ext cx="5700148" cy="2989262"/>
          </a:xfrm>
        </p:spPr>
        <p:txBody>
          <a:bodyPr>
            <a:normAutofit fontScale="92500"/>
          </a:bodyPr>
          <a:lstStyle/>
          <a:p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Los gestos de relajación aparecen sobre todo en un ambiente de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intimidad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o cuando creemos que nadie nos observa. En este caso los gestos suelen estar vinculados a algunas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necesidades fisiológicas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 como el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cansancio</a:t>
            </a:r>
            <a:endParaRPr lang="es-EC" dirty="0">
              <a:latin typeface="Century Gothic" panose="020B0502020202020204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4810E67-5963-46C4-A5C4-8A9FEB39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pic>
        <p:nvPicPr>
          <p:cNvPr id="8194" name="Picture 2" descr="Gestos adaptadores de Angela Merkel">
            <a:extLst>
              <a:ext uri="{FF2B5EF4-FFF2-40B4-BE49-F238E27FC236}">
                <a16:creationId xmlns:a16="http://schemas.microsoft.com/office/drawing/2014/main" id="{B888E275-41CF-4D0C-9844-24A146FEF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80" y="2778912"/>
            <a:ext cx="6105524" cy="305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99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6B069A5-F292-43DD-8244-9D379EC25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Ojo con lo que tocamos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A7F1B9-618F-4E66-808D-47C88E5F8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700" y="2936450"/>
            <a:ext cx="5915406" cy="2989262"/>
          </a:xfrm>
        </p:spPr>
        <p:txBody>
          <a:bodyPr>
            <a:normAutofit fontScale="70000" lnSpcReduction="20000"/>
          </a:bodyPr>
          <a:lstStyle/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Los gestos adaptadores en los que intervienen los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órganos sensoriales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suelen ser muy reveladores. Igual que hacen los niños pequeños de forma espontánea, taparse la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boca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 la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nariz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 los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ojos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o los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oídos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 puede expresar inconscientemente la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incomodidad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o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rechazo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hacia algún estímulo procesado por ese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canal 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sensorial. Aunque se realice de forma muy sutil.</a:t>
            </a:r>
            <a:endParaRPr lang="es-EC" dirty="0">
              <a:latin typeface="Century Gothic" panose="020B0502020202020204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3E2FC96-CB55-438E-BEA8-857416C0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pic>
        <p:nvPicPr>
          <p:cNvPr id="9218" name="Picture 2" descr="Gesto adaptador de Emmanuel Macron">
            <a:extLst>
              <a:ext uri="{FF2B5EF4-FFF2-40B4-BE49-F238E27FC236}">
                <a16:creationId xmlns:a16="http://schemas.microsoft.com/office/drawing/2014/main" id="{1CB26C61-D01B-4745-B1D0-E84DF0AC5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055" y="2700781"/>
            <a:ext cx="5302840" cy="298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092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1D61174-62E8-4C6A-8F06-E03FD4FD6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>
                <a:latin typeface="Century Gothic" panose="020B0502020202020204" pitchFamily="34" charset="0"/>
              </a:rPr>
              <a:t>Labios Cerrados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FAF782-4E0D-4920-9A6C-4433F430D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544" y="2587659"/>
            <a:ext cx="5951456" cy="3897982"/>
          </a:xfrm>
        </p:spPr>
        <p:txBody>
          <a:bodyPr>
            <a:normAutofit fontScale="62500" lnSpcReduction="20000"/>
          </a:bodyPr>
          <a:lstStyle/>
          <a:p>
            <a:pPr marL="360000" indent="0">
              <a:lnSpc>
                <a:spcPct val="120000"/>
              </a:lnSpc>
              <a:spcBef>
                <a:spcPts val="600"/>
              </a:spcBef>
            </a:pP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Unos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labios cerrados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también pueden hablar, como nos tiene acostumbrados Donald Trump. </a:t>
            </a:r>
          </a:p>
          <a:p>
            <a:pPr marL="360000" indent="0">
              <a:lnSpc>
                <a:spcPct val="120000"/>
              </a:lnSpc>
              <a:spcBef>
                <a:spcPts val="600"/>
              </a:spcBef>
            </a:pP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Esta forma de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apretar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y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afinar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los labios, tan característica en él, no es solo una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expresión facial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 sino al mismo tiempo un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gesto adaptador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vinculado a la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represión emocional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, y al intento de esconder alguna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emoción básica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de valencia negativa, como la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ira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360000" indent="0">
              <a:lnSpc>
                <a:spcPct val="120000"/>
              </a:lnSpc>
              <a:spcBef>
                <a:spcPts val="600"/>
              </a:spcBef>
            </a:pP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 Curiosamente,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Donald Trump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 tiene tan interiorizado este gesto que incluso le sale de forma sistemática cuando quiere componer una </a:t>
            </a:r>
            <a:r>
              <a:rPr lang="es-MX" b="1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sonrisa social</a:t>
            </a:r>
            <a:r>
              <a:rPr lang="es-MX" b="0" i="0" dirty="0">
                <a:solidFill>
                  <a:srgbClr val="444444"/>
                </a:solidFill>
                <a:effectLst/>
                <a:latin typeface="Century Gothic" panose="020B0502020202020204" pitchFamily="34" charset="0"/>
              </a:rPr>
              <a:t>.</a:t>
            </a:r>
            <a:endParaRPr lang="es-EC" dirty="0">
              <a:latin typeface="Century Gothic" panose="020B0502020202020204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A615136-CE77-4A64-AE7F-28DE4576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pic>
        <p:nvPicPr>
          <p:cNvPr id="10242" name="Picture 2" descr="Donald Trump: gestos adaptadores con los labios">
            <a:extLst>
              <a:ext uri="{FF2B5EF4-FFF2-40B4-BE49-F238E27FC236}">
                <a16:creationId xmlns:a16="http://schemas.microsoft.com/office/drawing/2014/main" id="{0296F81A-D7FF-4C8B-9D69-4787E335D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84" y="2814638"/>
            <a:ext cx="5866816" cy="293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207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0E6ACBF-B58A-4E6B-8D3B-D32DC0A3C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Ejemplos 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DA55ACC-75D3-4B51-A1AB-1214504E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13314" name="Picture 2" descr="MSP realizó conversatorio dirigido a medios de comunicación – Ministerio de  Salud Pública">
            <a:extLst>
              <a:ext uri="{FF2B5EF4-FFF2-40B4-BE49-F238E27FC236}">
                <a16:creationId xmlns:a16="http://schemas.microsoft.com/office/drawing/2014/main" id="{7E7EC00B-9D56-4933-8903-AC2AE5441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07" y="2308273"/>
            <a:ext cx="2936114" cy="219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Carta a la Ministra Romo - LAPALABRABIERTA">
            <a:extLst>
              <a:ext uri="{FF2B5EF4-FFF2-40B4-BE49-F238E27FC236}">
                <a16:creationId xmlns:a16="http://schemas.microsoft.com/office/drawing/2014/main" id="{23CCA462-40B4-45D6-8459-6576FFC33E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7" r="22913"/>
          <a:stretch/>
        </p:blipFill>
        <p:spPr bwMode="auto">
          <a:xfrm>
            <a:off x="4448077" y="2308273"/>
            <a:ext cx="3116776" cy="224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Cómo salvar el gobierno de Lenín Moreno en Ecuador - The New York Times">
            <a:extLst>
              <a:ext uri="{FF2B5EF4-FFF2-40B4-BE49-F238E27FC236}">
                <a16:creationId xmlns:a16="http://schemas.microsoft.com/office/drawing/2014/main" id="{245DF4B7-4C3B-44F6-9E8A-3D1D813DE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7"/>
          <a:stretch/>
        </p:blipFill>
        <p:spPr bwMode="auto">
          <a:xfrm>
            <a:off x="8467976" y="2308273"/>
            <a:ext cx="2497300" cy="231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Correa asfixia a la prensa | Human Rights Watch">
            <a:extLst>
              <a:ext uri="{FF2B5EF4-FFF2-40B4-BE49-F238E27FC236}">
                <a16:creationId xmlns:a16="http://schemas.microsoft.com/office/drawing/2014/main" id="{F5301A80-193E-47D4-BA2F-5362518F2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046" y="4891087"/>
            <a:ext cx="2552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Rafael Correa - Comunidad... - Rafael Correa - Comunidad">
            <a:extLst>
              <a:ext uri="{FF2B5EF4-FFF2-40B4-BE49-F238E27FC236}">
                <a16:creationId xmlns:a16="http://schemas.microsoft.com/office/drawing/2014/main" id="{4347617A-0229-4C71-B5B1-8AAD7E78CB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2"/>
          <a:stretch/>
        </p:blipFill>
        <p:spPr bwMode="auto">
          <a:xfrm>
            <a:off x="6626995" y="4714876"/>
            <a:ext cx="2143125" cy="196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899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3463CDC-9AF4-4984-9F6C-C8EB49E74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C" sz="3600" dirty="0">
                <a:latin typeface="Century Gothic" panose="020B0502020202020204" pitchFamily="34" charset="0"/>
              </a:rPr>
              <a:t>Integración de Habilidades Comunicativas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DCC59D-FC66-4DE4-94D8-532F71190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415" y="2700781"/>
            <a:ext cx="5655130" cy="2989262"/>
          </a:xfrm>
        </p:spPr>
        <p:txBody>
          <a:bodyPr>
            <a:normAutofit fontScale="77500" lnSpcReduction="20000"/>
          </a:bodyPr>
          <a:lstStyle/>
          <a:p>
            <a:r>
              <a:rPr lang="es-MX" dirty="0">
                <a:latin typeface="Century Gothic" panose="020B0502020202020204" pitchFamily="34" charset="0"/>
              </a:rPr>
              <a:t>Aplicar estas habilidades en reuniones de equipo, interacciones con pacientes, gestión de conflictos y comunicación con otras organizaciones y </a:t>
            </a:r>
            <a:r>
              <a:rPr lang="es-MX" dirty="0" err="1">
                <a:latin typeface="Century Gothic" panose="020B0502020202020204" pitchFamily="34" charset="0"/>
              </a:rPr>
              <a:t>stakeholders</a:t>
            </a:r>
            <a:r>
              <a:rPr lang="es-MX" dirty="0">
                <a:latin typeface="Century Gothic" panose="020B0502020202020204" pitchFamily="34" charset="0"/>
              </a:rPr>
              <a:t> es esencial. </a:t>
            </a:r>
          </a:p>
          <a:p>
            <a:r>
              <a:rPr lang="es-MX" dirty="0">
                <a:latin typeface="Century Gothic" panose="020B0502020202020204" pitchFamily="34" charset="0"/>
              </a:rPr>
              <a:t>Recordemos siempre que una buena comunicación no solo transmite información, sino que también construye relaciones y facilita la colaboración</a:t>
            </a:r>
            <a:endParaRPr lang="es-EC" dirty="0">
              <a:latin typeface="Century Gothic" panose="020B0502020202020204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FF124E6-38E2-4252-B088-B3DF9A7F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pic>
        <p:nvPicPr>
          <p:cNvPr id="12290" name="Picture 2" descr="Taller: habilidades Blandas y comunicativas - Educación Continua - PUCP  Educación Continua – PUCP">
            <a:extLst>
              <a:ext uri="{FF2B5EF4-FFF2-40B4-BE49-F238E27FC236}">
                <a16:creationId xmlns:a16="http://schemas.microsoft.com/office/drawing/2014/main" id="{BDA83A4C-6FD8-45BB-B2AF-7F70868D9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257" y="2827687"/>
            <a:ext cx="4292871" cy="286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72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Estrategias para Mejorar la Comunicación</a:t>
            </a:r>
            <a:endParaRPr lang="es-EC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2819" y="2560320"/>
            <a:ext cx="7104185" cy="2989262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Formación continua:</a:t>
            </a: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Participar en cursos y talleres de comunicación.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Práctica regular: </a:t>
            </a: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Practicar técnicas de comunicación y escucha activa en el día a día.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es-EC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Solicitar y ofrecer </a:t>
            </a:r>
            <a:r>
              <a:rPr lang="es-EC" sz="1800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mejorar nuestras habilidades.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Autoevaluación: </a:t>
            </a:r>
            <a:r>
              <a:rPr lang="es-EC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Reflexionar sobre nuestras interacciones y buscar áreas de mejora.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1B8BCC0-7C22-435E-BD8E-9AF2E30A7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17" y="2475475"/>
            <a:ext cx="4212102" cy="421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127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b="1" kern="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Impacto de una Comunicación Efectiva en la Gestión de Salud</a:t>
            </a:r>
            <a:endParaRPr lang="es-EC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Toma de Decisiones y Comunicación Estratégica en Salud</a:t>
            </a:r>
          </a:p>
        </p:txBody>
      </p:sp>
      <p:sp>
        <p:nvSpPr>
          <p:cNvPr id="9" name="2 Marcador de contenido">
            <a:extLst>
              <a:ext uri="{FF2B5EF4-FFF2-40B4-BE49-F238E27FC236}">
                <a16:creationId xmlns:a16="http://schemas.microsoft.com/office/drawing/2014/main" id="{0F2461BB-63E7-EA7A-7A36-E84914CA5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5254" y="2560320"/>
            <a:ext cx="6271750" cy="2989262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Mejora de la calidad del servicio: 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comunicación clara y efectiva puede reducir errores y mejorar la atención al paciente.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Aumento de la satisfacción del paciente: 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pacientes se sienten más valorados y comprendidos cuando se comunican efectivamente con ellos.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Eficiencia operativa: 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Una buena comunicación facilita la coordinación y la colaboración entre los miembros del equipo, mejorando la eficiencia operativa.</a:t>
            </a:r>
          </a:p>
        </p:txBody>
      </p:sp>
      <p:pic>
        <p:nvPicPr>
          <p:cNvPr id="11266" name="Picture 2" descr="La comunicación efectiva como herramienta fundamental para el desarrollo |  by ASEA | Medium">
            <a:extLst>
              <a:ext uri="{FF2B5EF4-FFF2-40B4-BE49-F238E27FC236}">
                <a16:creationId xmlns:a16="http://schemas.microsoft.com/office/drawing/2014/main" id="{A24486CA-BD48-4D3B-A703-D2070E119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14" y="2715313"/>
            <a:ext cx="4682822" cy="3327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185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309370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UTE DISEÑO">
  <a:themeElements>
    <a:clrScheme name="Verde 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34136410-1D10-4AFC-9A9A-A8C84A3A1BB6}" vid="{EBA6BB8B-F2CA-4335-8CC4-74366978B66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4F3F578466CC42A8454A707F369EA6" ma:contentTypeVersion="4" ma:contentTypeDescription="Crear nuevo documento." ma:contentTypeScope="" ma:versionID="20c533439617b68cee52ed53e453914e">
  <xsd:schema xmlns:xsd="http://www.w3.org/2001/XMLSchema" xmlns:xs="http://www.w3.org/2001/XMLSchema" xmlns:p="http://schemas.microsoft.com/office/2006/metadata/properties" xmlns:ns2="2b78fc60-775b-4a60-9181-de1188c79d7e" xmlns:ns3="5dd5220e-2380-46bc-8eeb-c2f8e8562e76" targetNamespace="http://schemas.microsoft.com/office/2006/metadata/properties" ma:root="true" ma:fieldsID="c7375521e94d35ef1acf0ed12b8b119c" ns2:_="" ns3:_="">
    <xsd:import namespace="2b78fc60-775b-4a60-9181-de1188c79d7e"/>
    <xsd:import namespace="5dd5220e-2380-46bc-8eeb-c2f8e8562e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78fc60-775b-4a60-9181-de1188c79d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d5220e-2380-46bc-8eeb-c2f8e8562e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6056A6-3345-4D7C-BB62-90B8EB8FF7FE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5dd5220e-2380-46bc-8eeb-c2f8e8562e76"/>
    <ds:schemaRef ds:uri="2b78fc60-775b-4a60-9181-de1188c79d7e"/>
  </ds:schemaRefs>
</ds:datastoreItem>
</file>

<file path=customXml/itemProps2.xml><?xml version="1.0" encoding="utf-8"?>
<ds:datastoreItem xmlns:ds="http://schemas.openxmlformats.org/officeDocument/2006/customXml" ds:itemID="{D26CA396-A274-474C-949D-47B7C0B752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7BBC1-A713-4201-8CE9-17E76D2A66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78fc60-775b-4a60-9181-de1188c79d7e"/>
    <ds:schemaRef ds:uri="5dd5220e-2380-46bc-8eeb-c2f8e8562e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11572</TotalTime>
  <Words>1246</Words>
  <Application>Microsoft Office PowerPoint</Application>
  <PresentationFormat>Panorámica</PresentationFormat>
  <Paragraphs>100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Symbol</vt:lpstr>
      <vt:lpstr>PLANTILLA UTE DISEÑO</vt:lpstr>
      <vt:lpstr>Presentación de PowerPoint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Presentación de PowerPoint</vt:lpstr>
      <vt:lpstr>Toma de Decisiones y Comunicación Estratégica en Salud</vt:lpstr>
      <vt:lpstr>Toma de Decisiones y Comunicación Estratégica en Salud</vt:lpstr>
      <vt:lpstr>Toma de Decisiones y Comunicación Estratégica en Salud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</dc:creator>
  <cp:lastModifiedBy>USUARIO</cp:lastModifiedBy>
  <cp:revision>46</cp:revision>
  <dcterms:created xsi:type="dcterms:W3CDTF">2020-04-17T01:31:56Z</dcterms:created>
  <dcterms:modified xsi:type="dcterms:W3CDTF">2026-10-08T15:29:22Z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0x0101003A4F3F578466CC42A8454A707F369EA6</vt:lpwstr>
  </property>
</Properties>
</file>