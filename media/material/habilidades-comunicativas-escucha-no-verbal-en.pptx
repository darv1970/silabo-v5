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handoutMasterIdLst>
    <p:handoutMasterId r:id="rId28"/>
  </p:handoutMasterIdLst>
  <p:sldIdLst>
    <p:sldId id="256" r:id="rId5"/>
    <p:sldId id="304" r:id="rId6"/>
    <p:sldId id="305" r:id="rId7"/>
    <p:sldId id="329"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5" r:id="rId23"/>
    <p:sldId id="322" r:id="rId24"/>
    <p:sldId id="323" r:id="rId25"/>
    <p:sldId id="260" r:id="rId26"/>
  </p:sldIdLst>
  <p:sldSz cx="12192000" cy="6858000"/>
  <p:notesSz cx="9144000" cy="6858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E6E6B346-0D77-4629-9198-53E8E310D1A6}">
          <p14:sldIdLst>
            <p14:sldId id="256"/>
            <p14:sldId id="304"/>
            <p14:sldId id="305"/>
            <p14:sldId id="329"/>
            <p14:sldId id="307"/>
            <p14:sldId id="308"/>
            <p14:sldId id="309"/>
            <p14:sldId id="310"/>
            <p14:sldId id="311"/>
            <p14:sldId id="312"/>
            <p14:sldId id="313"/>
            <p14:sldId id="314"/>
            <p14:sldId id="315"/>
            <p14:sldId id="316"/>
            <p14:sldId id="317"/>
            <p14:sldId id="318"/>
            <p14:sldId id="319"/>
            <p14:sldId id="320"/>
            <p14:sldId id="325"/>
            <p14:sldId id="322"/>
            <p14:sldId id="323"/>
            <p14:sldId id="26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5B91"/>
    <a:srgbClr val="4AAD52"/>
    <a:srgbClr val="949A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8" autoAdjust="0"/>
    <p:restoredTop sz="94700" autoAdjust="0"/>
  </p:normalViewPr>
  <p:slideViewPr>
    <p:cSldViewPr snapToGrid="0">
      <p:cViewPr varScale="1">
        <p:scale>
          <a:sx n="63" d="100"/>
          <a:sy n="63" d="100"/>
        </p:scale>
        <p:origin x="32" y="47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16" d="100"/>
          <a:sy n="116" d="100"/>
        </p:scale>
        <p:origin x="-606" y="-108"/>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s-EC" dirty="0"/>
          </a:p>
        </p:txBody>
      </p:sp>
      <p:sp>
        <p:nvSpPr>
          <p:cNvPr id="3" name="2 Marcador de fecha"/>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7F811797-CFDF-4E30-A4E1-907D06865D91}" type="datetimeFigureOut">
              <a:rPr lang="es-EC" smtClean="0"/>
              <a:t>11/10/2026</a:t>
            </a:fld>
            <a:endParaRPr lang="es-EC"/>
          </a:p>
        </p:txBody>
      </p:sp>
      <p:sp>
        <p:nvSpPr>
          <p:cNvPr id="4" name="3 Marcador de pie de página"/>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s-EC"/>
          </a:p>
        </p:txBody>
      </p:sp>
      <p:sp>
        <p:nvSpPr>
          <p:cNvPr id="5" name="4 Marcador de número de diapositiva"/>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04D00F1D-CACA-45A5-AF19-B7B89F5FE9EC}" type="slidenum">
              <a:rPr lang="es-EC" smtClean="0"/>
              <a:t>‹#›</a:t>
            </a:fld>
            <a:endParaRPr lang="es-EC"/>
          </a:p>
        </p:txBody>
      </p:sp>
    </p:spTree>
    <p:extLst>
      <p:ext uri="{BB962C8B-B14F-4D97-AF65-F5344CB8AC3E}">
        <p14:creationId xmlns:p14="http://schemas.microsoft.com/office/powerpoint/2010/main" val="18165811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1C53CF7-B783-CB4E-AE57-B32CF4EB4661}" type="datetimeFigureOut">
              <a:rPr lang="es-EC" smtClean="0"/>
              <a:t>11/10/2026</a:t>
            </a:fld>
            <a:endParaRPr lang="es-EC"/>
          </a:p>
        </p:txBody>
      </p:sp>
      <p:sp>
        <p:nvSpPr>
          <p:cNvPr id="4" name="Marcador de imagen de diapositiva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6411DF7-BC48-3B42-8272-67B08E94DEED}" type="slidenum">
              <a:rPr lang="es-EC" smtClean="0"/>
              <a:t>‹#›</a:t>
            </a:fld>
            <a:endParaRPr lang="es-EC"/>
          </a:p>
        </p:txBody>
      </p:sp>
    </p:spTree>
    <p:extLst>
      <p:ext uri="{BB962C8B-B14F-4D97-AF65-F5344CB8AC3E}">
        <p14:creationId xmlns:p14="http://schemas.microsoft.com/office/powerpoint/2010/main" val="2373365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A1298C51-975A-47E7-B82D-7B357E560500}" type="datetimeFigureOut">
              <a:rPr lang="es-EC" smtClean="0"/>
              <a:t>11/10/2026</a:t>
            </a:fld>
            <a:endParaRPr lang="es-EC"/>
          </a:p>
        </p:txBody>
      </p:sp>
      <p:sp>
        <p:nvSpPr>
          <p:cNvPr id="3" name="Marcador de pie de página 2"/>
          <p:cNvSpPr>
            <a:spLocks noGrp="1"/>
          </p:cNvSpPr>
          <p:nvPr>
            <p:ph type="ftr" sz="quarter" idx="11"/>
          </p:nvPr>
        </p:nvSpPr>
        <p:spPr/>
        <p:txBody>
          <a:bodyPr/>
          <a:lstStyle/>
          <a:p>
            <a:endParaRPr lang="es-EC"/>
          </a:p>
        </p:txBody>
      </p:sp>
      <p:sp>
        <p:nvSpPr>
          <p:cNvPr id="4" name="Marcador de número de diapositiva 3"/>
          <p:cNvSpPr>
            <a:spLocks noGrp="1"/>
          </p:cNvSpPr>
          <p:nvPr>
            <p:ph type="sldNum" sz="quarter" idx="12"/>
          </p:nvPr>
        </p:nvSpPr>
        <p:spPr/>
        <p:txBody>
          <a:bodyPr/>
          <a:lstStyle/>
          <a:p>
            <a:fld id="{B1671FD0-766A-4664-840B-44A55B7D8810}" type="slidenum">
              <a:rPr lang="es-EC" smtClean="0"/>
              <a:t>‹#›</a:t>
            </a:fld>
            <a:endParaRPr lang="es-EC"/>
          </a:p>
        </p:txBody>
      </p:sp>
      <p:pic>
        <p:nvPicPr>
          <p:cNvPr id="5" name="Imagen 16"/>
          <p:cNvPicPr>
            <a:picLocks noChangeAspect="1"/>
          </p:cNvPicPr>
          <p:nvPr userDrawn="1"/>
        </p:nvPicPr>
        <p:blipFill>
          <a:blip r:embed="rId2"/>
          <a:stretch>
            <a:fillRect/>
          </a:stretch>
        </p:blipFill>
        <p:spPr>
          <a:xfrm>
            <a:off x="2552531" y="2199788"/>
            <a:ext cx="7086939" cy="2458424"/>
          </a:xfrm>
          <a:prstGeom prst="rect">
            <a:avLst/>
          </a:prstGeom>
        </p:spPr>
      </p:pic>
    </p:spTree>
    <p:extLst>
      <p:ext uri="{BB962C8B-B14F-4D97-AF65-F5344CB8AC3E}">
        <p14:creationId xmlns:p14="http://schemas.microsoft.com/office/powerpoint/2010/main" val="2308038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gradFill>
          <a:gsLst>
            <a:gs pos="0">
              <a:srgbClr val="4AAD52"/>
            </a:gs>
            <a:gs pos="100000">
              <a:srgbClr val="265B91"/>
            </a:gs>
          </a:gsLst>
          <a:lin ang="2700000" scaled="0"/>
        </a:gradFill>
        <a:effectLst/>
      </p:bgPr>
    </p:bg>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019493"/>
            <a:ext cx="9144000" cy="2387600"/>
          </a:xfrm>
        </p:spPr>
        <p:txBody>
          <a:bodyPr anchor="b">
            <a:normAutofit/>
          </a:bodyPr>
          <a:lstStyle>
            <a:lvl1pPr marL="0" marR="0" indent="0" algn="ctr" defTabSz="914400" rtl="0" eaLnBrk="1" fontAlgn="auto" latinLnBrk="0" hangingPunct="1">
              <a:lnSpc>
                <a:spcPct val="90000"/>
              </a:lnSpc>
              <a:spcBef>
                <a:spcPct val="0"/>
              </a:spcBef>
              <a:spcAft>
                <a:spcPts val="0"/>
              </a:spcAft>
              <a:buClrTx/>
              <a:buSzTx/>
              <a:buFontTx/>
              <a:buNone/>
              <a:tabLst/>
              <a:defRPr sz="4400">
                <a:solidFill>
                  <a:schemeClr val="bg1"/>
                </a:solidFill>
                <a:latin typeface="Arial" panose="020B0604020202020204" pitchFamily="34" charset="0"/>
                <a:cs typeface="Arial" panose="020B0604020202020204" pitchFamily="34" charset="0"/>
              </a:defRPr>
            </a:lvl1pPr>
          </a:lstStyle>
          <a:p>
            <a:r>
              <a:rPr lang="es-EC" sz="4400" b="1" dirty="0">
                <a:solidFill>
                  <a:schemeClr val="bg1"/>
                </a:solidFill>
                <a:latin typeface="Arial" panose="020B0604020202020204" pitchFamily="34" charset="0"/>
                <a:cs typeface="Arial" panose="020B0604020202020204" pitchFamily="34" charset="0"/>
              </a:rPr>
              <a:t>TÍTULO DE LA MATERIA</a:t>
            </a:r>
            <a:endParaRPr lang="es-EC" dirty="0"/>
          </a:p>
        </p:txBody>
      </p:sp>
      <p:sp>
        <p:nvSpPr>
          <p:cNvPr id="3" name="Subtítulo 2"/>
          <p:cNvSpPr>
            <a:spLocks noGrp="1"/>
          </p:cNvSpPr>
          <p:nvPr>
            <p:ph type="subTitle" idx="1" hasCustomPrompt="1"/>
          </p:nvPr>
        </p:nvSpPr>
        <p:spPr>
          <a:xfrm>
            <a:off x="1524000" y="372776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ctr"/>
            <a:r>
              <a:rPr lang="es-EC" dirty="0">
                <a:solidFill>
                  <a:schemeClr val="bg1"/>
                </a:solidFill>
                <a:latin typeface="Arial" panose="020B0604020202020204" pitchFamily="34" charset="0"/>
                <a:ea typeface="Open Sans Semibold" panose="020B0706030804020204" pitchFamily="34" charset="0"/>
                <a:cs typeface="Arial" panose="020B0604020202020204" pitchFamily="34" charset="0"/>
              </a:rPr>
              <a:t>TEMA DE CLASE</a:t>
            </a:r>
          </a:p>
          <a:p>
            <a:pPr algn="ctr"/>
            <a:r>
              <a:rPr lang="es-EC" dirty="0" err="1">
                <a:solidFill>
                  <a:schemeClr val="bg1"/>
                </a:solidFill>
                <a:latin typeface="Arial" panose="020B0604020202020204" pitchFamily="34" charset="0"/>
                <a:ea typeface="Open Sans Semibold" panose="020B0706030804020204" pitchFamily="34" charset="0"/>
                <a:cs typeface="Arial" panose="020B0604020202020204" pitchFamily="34" charset="0"/>
              </a:rPr>
              <a:t>Msc</a:t>
            </a:r>
            <a:r>
              <a:rPr lang="es-EC" dirty="0">
                <a:solidFill>
                  <a:schemeClr val="bg1"/>
                </a:solidFill>
                <a:latin typeface="Arial" panose="020B0604020202020204" pitchFamily="34" charset="0"/>
                <a:ea typeface="Open Sans Semibold" panose="020B0706030804020204" pitchFamily="34" charset="0"/>
                <a:cs typeface="Arial" panose="020B0604020202020204" pitchFamily="34" charset="0"/>
              </a:rPr>
              <a:t>. Nombre y Apellido</a:t>
            </a:r>
          </a:p>
        </p:txBody>
      </p:sp>
      <p:sp>
        <p:nvSpPr>
          <p:cNvPr id="4" name="Marcador de fecha 3"/>
          <p:cNvSpPr>
            <a:spLocks noGrp="1"/>
          </p:cNvSpPr>
          <p:nvPr>
            <p:ph type="dt" sz="half" idx="10"/>
          </p:nvPr>
        </p:nvSpPr>
        <p:spPr/>
        <p:txBody>
          <a:bodyPr/>
          <a:lstStyle/>
          <a:p>
            <a:fld id="{A1298C51-975A-47E7-B82D-7B357E560500}" type="datetimeFigureOut">
              <a:rPr lang="es-EC" smtClean="0"/>
              <a:t>11/10/2026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B1671FD0-766A-4664-840B-44A55B7D8810}" type="slidenum">
              <a:rPr lang="es-EC" smtClean="0"/>
              <a:t>‹#›</a:t>
            </a:fld>
            <a:endParaRPr lang="es-EC"/>
          </a:p>
        </p:txBody>
      </p:sp>
      <p:grpSp>
        <p:nvGrpSpPr>
          <p:cNvPr id="7" name="Grupo 5"/>
          <p:cNvGrpSpPr/>
          <p:nvPr userDrawn="1"/>
        </p:nvGrpSpPr>
        <p:grpSpPr>
          <a:xfrm>
            <a:off x="526949" y="351741"/>
            <a:ext cx="11665051" cy="6593941"/>
            <a:chOff x="526949" y="264059"/>
            <a:chExt cx="11665051" cy="6593941"/>
          </a:xfrm>
        </p:grpSpPr>
        <p:pic>
          <p:nvPicPr>
            <p:cNvPr id="8" name="Imagen 1"/>
            <p:cNvPicPr>
              <a:picLocks noChangeAspect="1"/>
            </p:cNvPicPr>
            <p:nvPr/>
          </p:nvPicPr>
          <p:blipFill>
            <a:blip r:embed="rId2"/>
            <a:stretch>
              <a:fillRect/>
            </a:stretch>
          </p:blipFill>
          <p:spPr>
            <a:xfrm>
              <a:off x="526949" y="264059"/>
              <a:ext cx="1509669" cy="1231658"/>
            </a:xfrm>
            <a:prstGeom prst="rect">
              <a:avLst/>
            </a:prstGeom>
          </p:spPr>
        </p:pic>
        <p:pic>
          <p:nvPicPr>
            <p:cNvPr id="9" name="Imagen 2"/>
            <p:cNvPicPr>
              <a:picLocks noChangeAspect="1"/>
            </p:cNvPicPr>
            <p:nvPr/>
          </p:nvPicPr>
          <p:blipFill>
            <a:blip r:embed="rId3"/>
            <a:stretch>
              <a:fillRect/>
            </a:stretch>
          </p:blipFill>
          <p:spPr>
            <a:xfrm>
              <a:off x="10432577" y="5685905"/>
              <a:ext cx="1759423" cy="1172095"/>
            </a:xfrm>
            <a:prstGeom prst="rect">
              <a:avLst/>
            </a:prstGeom>
          </p:spPr>
        </p:pic>
        <p:cxnSp>
          <p:nvCxnSpPr>
            <p:cNvPr id="10" name="Conector recto 4"/>
            <p:cNvCxnSpPr/>
            <p:nvPr/>
          </p:nvCxnSpPr>
          <p:spPr>
            <a:xfrm>
              <a:off x="1490750" y="3476025"/>
              <a:ext cx="9210501" cy="0"/>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7995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3" name="Marcador de texto 2"/>
          <p:cNvSpPr>
            <a:spLocks noGrp="1"/>
          </p:cNvSpPr>
          <p:nvPr>
            <p:ph type="body" idx="1" hasCustomPrompt="1"/>
          </p:nvPr>
        </p:nvSpPr>
        <p:spPr>
          <a:xfrm>
            <a:off x="585414" y="1452563"/>
            <a:ext cx="10769771" cy="823912"/>
          </a:xfrm>
        </p:spPr>
        <p:txBody>
          <a:bodyPr anchor="b">
            <a:normAutofit/>
          </a:bodyPr>
          <a:lstStyle>
            <a:lvl1pPr marL="0" indent="0">
              <a:buNone/>
              <a:defRPr sz="4000" b="1">
                <a:solidFill>
                  <a:srgbClr val="265B9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C" sz="4000" b="1" dirty="0">
                <a:solidFill>
                  <a:srgbClr val="265B91"/>
                </a:solidFill>
                <a:latin typeface="Arial" panose="020B0604020202020204" pitchFamily="34" charset="0"/>
                <a:cs typeface="Arial" panose="020B0604020202020204" pitchFamily="34" charset="0"/>
              </a:rPr>
              <a:t>TÍTULO DEL TEMA</a:t>
            </a:r>
            <a:endParaRPr lang="es-ES" dirty="0"/>
          </a:p>
        </p:txBody>
      </p:sp>
      <p:sp>
        <p:nvSpPr>
          <p:cNvPr id="4" name="Marcador de contenido 3"/>
          <p:cNvSpPr>
            <a:spLocks noGrp="1"/>
          </p:cNvSpPr>
          <p:nvPr>
            <p:ph sz="half" idx="2"/>
          </p:nvPr>
        </p:nvSpPr>
        <p:spPr>
          <a:xfrm>
            <a:off x="598516" y="3200401"/>
            <a:ext cx="10740044" cy="2989262"/>
          </a:xfrm>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EC" dirty="0"/>
          </a:p>
        </p:txBody>
      </p:sp>
      <p:sp>
        <p:nvSpPr>
          <p:cNvPr id="5" name="Marcador de texto 4"/>
          <p:cNvSpPr>
            <a:spLocks noGrp="1"/>
          </p:cNvSpPr>
          <p:nvPr>
            <p:ph type="body" sz="quarter" idx="3" hasCustomPrompt="1"/>
          </p:nvPr>
        </p:nvSpPr>
        <p:spPr>
          <a:xfrm>
            <a:off x="598515" y="2435543"/>
            <a:ext cx="10756669" cy="513397"/>
          </a:xfrm>
        </p:spPr>
        <p:txBody>
          <a:bodyPr anchor="b">
            <a:normAutofit/>
          </a:bodyPr>
          <a:lstStyle>
            <a:lvl1pPr marL="0" indent="0">
              <a:buNone/>
              <a:defRPr sz="1800" b="1">
                <a:solidFill>
                  <a:srgbClr val="4AAD5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C" b="1" dirty="0">
                <a:solidFill>
                  <a:srgbClr val="4AAD52"/>
                </a:solidFill>
                <a:latin typeface="Arial" panose="020B0604020202020204" pitchFamily="34" charset="0"/>
                <a:ea typeface="Open Sans Semibold" panose="020B0706030804020204" pitchFamily="34" charset="0"/>
                <a:cs typeface="Arial" panose="020B0604020202020204" pitchFamily="34" charset="0"/>
              </a:rPr>
              <a:t>SUBTÍTULO: (OPINION PRO SEMI BOLD)</a:t>
            </a:r>
            <a:endParaRPr lang="es-ES" dirty="0"/>
          </a:p>
        </p:txBody>
      </p:sp>
      <p:sp>
        <p:nvSpPr>
          <p:cNvPr id="7" name="Marcador de fecha 6"/>
          <p:cNvSpPr>
            <a:spLocks noGrp="1"/>
          </p:cNvSpPr>
          <p:nvPr>
            <p:ph type="dt" sz="half" idx="10"/>
          </p:nvPr>
        </p:nvSpPr>
        <p:spPr>
          <a:xfrm>
            <a:off x="598516" y="6297526"/>
            <a:ext cx="2743200" cy="365125"/>
          </a:xfrm>
        </p:spPr>
        <p:txBody>
          <a:bodyPr/>
          <a:lstStyle/>
          <a:p>
            <a:fld id="{A1298C51-975A-47E7-B82D-7B357E560500}" type="datetimeFigureOut">
              <a:rPr lang="es-EC" smtClean="0"/>
              <a:t>11/10/2026</a:t>
            </a:fld>
            <a:endParaRPr lang="es-EC"/>
          </a:p>
        </p:txBody>
      </p:sp>
      <p:sp>
        <p:nvSpPr>
          <p:cNvPr id="8" name="Marcador de pie de página 7"/>
          <p:cNvSpPr>
            <a:spLocks noGrp="1"/>
          </p:cNvSpPr>
          <p:nvPr>
            <p:ph type="ftr" sz="quarter" idx="11"/>
          </p:nvPr>
        </p:nvSpPr>
        <p:spPr>
          <a:xfrm>
            <a:off x="4038600" y="6276340"/>
            <a:ext cx="4114800" cy="365125"/>
          </a:xfrm>
        </p:spPr>
        <p:txBody>
          <a:bodyPr/>
          <a:lstStyle/>
          <a:p>
            <a:endParaRPr lang="es-EC"/>
          </a:p>
        </p:txBody>
      </p:sp>
      <p:sp>
        <p:nvSpPr>
          <p:cNvPr id="9" name="Marcador de número de diapositiva 8"/>
          <p:cNvSpPr>
            <a:spLocks noGrp="1"/>
          </p:cNvSpPr>
          <p:nvPr>
            <p:ph type="sldNum" sz="quarter" idx="12"/>
          </p:nvPr>
        </p:nvSpPr>
        <p:spPr>
          <a:xfrm>
            <a:off x="8610600" y="6287770"/>
            <a:ext cx="2743200" cy="365125"/>
          </a:xfrm>
        </p:spPr>
        <p:txBody>
          <a:bodyPr/>
          <a:lstStyle/>
          <a:p>
            <a:fld id="{B1671FD0-766A-4664-840B-44A55B7D8810}" type="slidenum">
              <a:rPr lang="es-EC" smtClean="0"/>
              <a:t>‹#›</a:t>
            </a:fld>
            <a:endParaRPr lang="es-EC"/>
          </a:p>
        </p:txBody>
      </p:sp>
      <p:grpSp>
        <p:nvGrpSpPr>
          <p:cNvPr id="10" name="Grupo 1"/>
          <p:cNvGrpSpPr/>
          <p:nvPr userDrawn="1"/>
        </p:nvGrpSpPr>
        <p:grpSpPr>
          <a:xfrm>
            <a:off x="0" y="-3759"/>
            <a:ext cx="12192000" cy="1088967"/>
            <a:chOff x="0" y="-1"/>
            <a:chExt cx="12192000" cy="1088967"/>
          </a:xfrm>
        </p:grpSpPr>
        <p:sp>
          <p:nvSpPr>
            <p:cNvPr id="11" name="Rectángulo 2"/>
            <p:cNvSpPr/>
            <p:nvPr/>
          </p:nvSpPr>
          <p:spPr>
            <a:xfrm>
              <a:off x="0" y="-1"/>
              <a:ext cx="12192000" cy="1088967"/>
            </a:xfrm>
            <a:prstGeom prst="rect">
              <a:avLst/>
            </a:prstGeom>
            <a:gradFill>
              <a:gsLst>
                <a:gs pos="0">
                  <a:srgbClr val="4AAD52"/>
                </a:gs>
                <a:gs pos="100000">
                  <a:srgbClr val="265B9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pic>
          <p:nvPicPr>
            <p:cNvPr id="12" name="Imagen 4"/>
            <p:cNvPicPr>
              <a:picLocks noChangeAspect="1"/>
            </p:cNvPicPr>
            <p:nvPr/>
          </p:nvPicPr>
          <p:blipFill>
            <a:blip r:embed="rId2"/>
            <a:stretch>
              <a:fillRect/>
            </a:stretch>
          </p:blipFill>
          <p:spPr>
            <a:xfrm>
              <a:off x="452135" y="155993"/>
              <a:ext cx="952358" cy="776978"/>
            </a:xfrm>
            <a:prstGeom prst="rect">
              <a:avLst/>
            </a:prstGeom>
          </p:spPr>
        </p:pic>
        <p:pic>
          <p:nvPicPr>
            <p:cNvPr id="13" name="Imagen 5"/>
            <p:cNvPicPr>
              <a:picLocks noChangeAspect="1"/>
            </p:cNvPicPr>
            <p:nvPr/>
          </p:nvPicPr>
          <p:blipFill>
            <a:blip r:embed="rId3"/>
            <a:stretch>
              <a:fillRect/>
            </a:stretch>
          </p:blipFill>
          <p:spPr>
            <a:xfrm>
              <a:off x="11044727" y="162336"/>
              <a:ext cx="1147273" cy="764292"/>
            </a:xfrm>
            <a:prstGeom prst="rect">
              <a:avLst/>
            </a:prstGeom>
          </p:spPr>
        </p:pic>
      </p:grpSp>
      <p:sp>
        <p:nvSpPr>
          <p:cNvPr id="2" name="Título 1"/>
          <p:cNvSpPr>
            <a:spLocks noGrp="1"/>
          </p:cNvSpPr>
          <p:nvPr>
            <p:ph type="title" hasCustomPrompt="1"/>
          </p:nvPr>
        </p:nvSpPr>
        <p:spPr>
          <a:xfrm>
            <a:off x="1783080" y="95085"/>
            <a:ext cx="8446770" cy="819315"/>
          </a:xfrm>
        </p:spPr>
        <p:txBody>
          <a:bodyPr>
            <a:normAutofit/>
          </a:bodyPr>
          <a:lstStyle>
            <a:lvl1pPr algn="ctr">
              <a:defRPr sz="1800" b="1">
                <a:solidFill>
                  <a:schemeClr val="bg1"/>
                </a:solidFill>
                <a:latin typeface="Arial" panose="020B0604020202020204" pitchFamily="34" charset="0"/>
                <a:cs typeface="Arial" panose="020B0604020202020204" pitchFamily="34" charset="0"/>
              </a:defRPr>
            </a:lvl1pPr>
          </a:lstStyle>
          <a:p>
            <a:r>
              <a:rPr lang="es-EC" b="1" dirty="0">
                <a:solidFill>
                  <a:schemeClr val="bg1"/>
                </a:solidFill>
                <a:latin typeface="Arial" panose="020B0604020202020204" pitchFamily="34" charset="0"/>
                <a:cs typeface="Arial" panose="020B0604020202020204" pitchFamily="34" charset="0"/>
              </a:rPr>
              <a:t>TÍTULO DE LA MATERIA</a:t>
            </a:r>
            <a:endParaRPr lang="es-EC" dirty="0"/>
          </a:p>
        </p:txBody>
      </p:sp>
      <p:sp>
        <p:nvSpPr>
          <p:cNvPr id="15" name="Rectángulo 12"/>
          <p:cNvSpPr/>
          <p:nvPr userDrawn="1"/>
        </p:nvSpPr>
        <p:spPr>
          <a:xfrm>
            <a:off x="0" y="6708371"/>
            <a:ext cx="12192000" cy="299258"/>
          </a:xfrm>
          <a:prstGeom prst="rect">
            <a:avLst/>
          </a:prstGeom>
          <a:gradFill>
            <a:gsLst>
              <a:gs pos="0">
                <a:srgbClr val="4AAD52"/>
              </a:gs>
              <a:gs pos="100000">
                <a:srgbClr val="265B91"/>
              </a:gs>
            </a:gsLst>
            <a:lin ang="27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16" name="Conector recto 8"/>
          <p:cNvCxnSpPr/>
          <p:nvPr userDrawn="1"/>
        </p:nvCxnSpPr>
        <p:spPr>
          <a:xfrm>
            <a:off x="598516" y="2337181"/>
            <a:ext cx="10756669" cy="0"/>
          </a:xfrm>
          <a:prstGeom prst="line">
            <a:avLst/>
          </a:prstGeom>
          <a:ln w="53975">
            <a:gradFill>
              <a:gsLst>
                <a:gs pos="0">
                  <a:srgbClr val="4AAD52"/>
                </a:gs>
                <a:gs pos="100000">
                  <a:srgbClr val="265B91"/>
                </a:gs>
              </a:gsLst>
              <a:lin ang="27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5073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1_Comparación">
    <p:spTree>
      <p:nvGrpSpPr>
        <p:cNvPr id="1" name=""/>
        <p:cNvGrpSpPr/>
        <p:nvPr/>
      </p:nvGrpSpPr>
      <p:grpSpPr>
        <a:xfrm>
          <a:off x="0" y="0"/>
          <a:ext cx="0" cy="0"/>
          <a:chOff x="0" y="0"/>
          <a:chExt cx="0" cy="0"/>
        </a:xfrm>
      </p:grpSpPr>
      <p:sp>
        <p:nvSpPr>
          <p:cNvPr id="3" name="Marcador de texto 2"/>
          <p:cNvSpPr>
            <a:spLocks noGrp="1"/>
          </p:cNvSpPr>
          <p:nvPr>
            <p:ph type="body" idx="1" hasCustomPrompt="1"/>
          </p:nvPr>
        </p:nvSpPr>
        <p:spPr>
          <a:xfrm>
            <a:off x="928314" y="124682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C" sz="4000" b="1" dirty="0">
                <a:solidFill>
                  <a:srgbClr val="265B91"/>
                </a:solidFill>
                <a:latin typeface="Arial" panose="020B0604020202020204" pitchFamily="34" charset="0"/>
                <a:cs typeface="Arial" panose="020B0604020202020204" pitchFamily="34" charset="0"/>
              </a:rPr>
              <a:t>TÍTULO DEL TEMA</a:t>
            </a:r>
            <a:endParaRPr lang="es-ES" dirty="0"/>
          </a:p>
        </p:txBody>
      </p:sp>
      <p:sp>
        <p:nvSpPr>
          <p:cNvPr id="4" name="Marcador de contenido 3"/>
          <p:cNvSpPr>
            <a:spLocks noGrp="1"/>
          </p:cNvSpPr>
          <p:nvPr>
            <p:ph sz="half" idx="2"/>
          </p:nvPr>
        </p:nvSpPr>
        <p:spPr>
          <a:xfrm>
            <a:off x="839788" y="2505075"/>
            <a:ext cx="5157787" cy="3684588"/>
          </a:xfrm>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EC" dirty="0"/>
          </a:p>
        </p:txBody>
      </p:sp>
      <p:sp>
        <p:nvSpPr>
          <p:cNvPr id="5" name="Marcador de texto 4"/>
          <p:cNvSpPr>
            <a:spLocks noGrp="1"/>
          </p:cNvSpPr>
          <p:nvPr>
            <p:ph type="body" sz="quarter" idx="3"/>
          </p:nvPr>
        </p:nvSpPr>
        <p:spPr>
          <a:xfrm>
            <a:off x="5497830" y="434435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EC" dirty="0"/>
          </a:p>
        </p:txBody>
      </p:sp>
      <p:sp>
        <p:nvSpPr>
          <p:cNvPr id="7" name="Marcador de fecha 6"/>
          <p:cNvSpPr>
            <a:spLocks noGrp="1"/>
          </p:cNvSpPr>
          <p:nvPr>
            <p:ph type="dt" sz="half" idx="10"/>
          </p:nvPr>
        </p:nvSpPr>
        <p:spPr/>
        <p:txBody>
          <a:bodyPr/>
          <a:lstStyle/>
          <a:p>
            <a:fld id="{A1298C51-975A-47E7-B82D-7B357E560500}" type="datetimeFigureOut">
              <a:rPr lang="es-EC" smtClean="0"/>
              <a:t>11/10/2026</a:t>
            </a:fld>
            <a:endParaRPr lang="es-EC"/>
          </a:p>
        </p:txBody>
      </p:sp>
      <p:sp>
        <p:nvSpPr>
          <p:cNvPr id="8" name="Marcador de pie de página 7"/>
          <p:cNvSpPr>
            <a:spLocks noGrp="1"/>
          </p:cNvSpPr>
          <p:nvPr>
            <p:ph type="ftr" sz="quarter" idx="11"/>
          </p:nvPr>
        </p:nvSpPr>
        <p:spPr/>
        <p:txBody>
          <a:bodyPr/>
          <a:lstStyle/>
          <a:p>
            <a:endParaRPr lang="es-EC"/>
          </a:p>
        </p:txBody>
      </p:sp>
      <p:sp>
        <p:nvSpPr>
          <p:cNvPr id="9" name="Marcador de número de diapositiva 8"/>
          <p:cNvSpPr>
            <a:spLocks noGrp="1"/>
          </p:cNvSpPr>
          <p:nvPr>
            <p:ph type="sldNum" sz="quarter" idx="12"/>
          </p:nvPr>
        </p:nvSpPr>
        <p:spPr/>
        <p:txBody>
          <a:bodyPr/>
          <a:lstStyle/>
          <a:p>
            <a:fld id="{B1671FD0-766A-4664-840B-44A55B7D8810}" type="slidenum">
              <a:rPr lang="es-EC" smtClean="0"/>
              <a:t>‹#›</a:t>
            </a:fld>
            <a:endParaRPr lang="es-EC"/>
          </a:p>
        </p:txBody>
      </p:sp>
      <p:grpSp>
        <p:nvGrpSpPr>
          <p:cNvPr id="10" name="Grupo 1"/>
          <p:cNvGrpSpPr/>
          <p:nvPr userDrawn="1"/>
        </p:nvGrpSpPr>
        <p:grpSpPr>
          <a:xfrm>
            <a:off x="0" y="-3759"/>
            <a:ext cx="12192000" cy="1088967"/>
            <a:chOff x="0" y="-1"/>
            <a:chExt cx="12192000" cy="1088967"/>
          </a:xfrm>
        </p:grpSpPr>
        <p:sp>
          <p:nvSpPr>
            <p:cNvPr id="11" name="Rectángulo 2"/>
            <p:cNvSpPr/>
            <p:nvPr/>
          </p:nvSpPr>
          <p:spPr>
            <a:xfrm>
              <a:off x="0" y="-1"/>
              <a:ext cx="12192000" cy="1088967"/>
            </a:xfrm>
            <a:prstGeom prst="rect">
              <a:avLst/>
            </a:prstGeom>
            <a:gradFill>
              <a:gsLst>
                <a:gs pos="0">
                  <a:srgbClr val="4AAD52"/>
                </a:gs>
                <a:gs pos="100000">
                  <a:srgbClr val="265B9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pic>
          <p:nvPicPr>
            <p:cNvPr id="12" name="Imagen 4"/>
            <p:cNvPicPr>
              <a:picLocks noChangeAspect="1"/>
            </p:cNvPicPr>
            <p:nvPr/>
          </p:nvPicPr>
          <p:blipFill>
            <a:blip r:embed="rId2"/>
            <a:stretch>
              <a:fillRect/>
            </a:stretch>
          </p:blipFill>
          <p:spPr>
            <a:xfrm>
              <a:off x="452135" y="155993"/>
              <a:ext cx="952358" cy="776978"/>
            </a:xfrm>
            <a:prstGeom prst="rect">
              <a:avLst/>
            </a:prstGeom>
          </p:spPr>
        </p:pic>
        <p:pic>
          <p:nvPicPr>
            <p:cNvPr id="13" name="Imagen 5"/>
            <p:cNvPicPr>
              <a:picLocks noChangeAspect="1"/>
            </p:cNvPicPr>
            <p:nvPr/>
          </p:nvPicPr>
          <p:blipFill>
            <a:blip r:embed="rId3"/>
            <a:stretch>
              <a:fillRect/>
            </a:stretch>
          </p:blipFill>
          <p:spPr>
            <a:xfrm>
              <a:off x="11044727" y="162336"/>
              <a:ext cx="1147273" cy="764292"/>
            </a:xfrm>
            <a:prstGeom prst="rect">
              <a:avLst/>
            </a:prstGeom>
          </p:spPr>
        </p:pic>
      </p:grpSp>
      <p:sp>
        <p:nvSpPr>
          <p:cNvPr id="2" name="Título 1"/>
          <p:cNvSpPr>
            <a:spLocks noGrp="1"/>
          </p:cNvSpPr>
          <p:nvPr>
            <p:ph type="title" hasCustomPrompt="1"/>
          </p:nvPr>
        </p:nvSpPr>
        <p:spPr>
          <a:xfrm>
            <a:off x="1783080" y="95085"/>
            <a:ext cx="8446770" cy="819315"/>
          </a:xfrm>
        </p:spPr>
        <p:txBody>
          <a:bodyPr>
            <a:normAutofit/>
          </a:bodyPr>
          <a:lstStyle>
            <a:lvl1pPr algn="ctr">
              <a:defRPr sz="1800" b="1">
                <a:solidFill>
                  <a:schemeClr val="bg1"/>
                </a:solidFill>
                <a:latin typeface="Arial" panose="020B0604020202020204" pitchFamily="34" charset="0"/>
                <a:cs typeface="Arial" panose="020B0604020202020204" pitchFamily="34" charset="0"/>
              </a:defRPr>
            </a:lvl1pPr>
          </a:lstStyle>
          <a:p>
            <a:r>
              <a:rPr lang="es-EC" b="1" dirty="0">
                <a:solidFill>
                  <a:schemeClr val="bg1"/>
                </a:solidFill>
                <a:latin typeface="Arial" panose="020B0604020202020204" pitchFamily="34" charset="0"/>
                <a:cs typeface="Arial" panose="020B0604020202020204" pitchFamily="34" charset="0"/>
              </a:rPr>
              <a:t>TÍTULO DE LA MATERIA</a:t>
            </a:r>
            <a:endParaRPr lang="es-EC" dirty="0"/>
          </a:p>
        </p:txBody>
      </p:sp>
    </p:spTree>
    <p:extLst>
      <p:ext uri="{BB962C8B-B14F-4D97-AF65-F5344CB8AC3E}">
        <p14:creationId xmlns:p14="http://schemas.microsoft.com/office/powerpoint/2010/main" val="2546528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98516" y="3040380"/>
            <a:ext cx="10755284" cy="2393632"/>
          </a:xfrm>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EC" dirty="0"/>
          </a:p>
        </p:txBody>
      </p:sp>
      <p:sp>
        <p:nvSpPr>
          <p:cNvPr id="4" name="Marcador de fecha 3"/>
          <p:cNvSpPr>
            <a:spLocks noGrp="1"/>
          </p:cNvSpPr>
          <p:nvPr>
            <p:ph type="dt" sz="half" idx="10"/>
          </p:nvPr>
        </p:nvSpPr>
        <p:spPr>
          <a:xfrm>
            <a:off x="838200" y="6116320"/>
            <a:ext cx="2743200" cy="365125"/>
          </a:xfrm>
        </p:spPr>
        <p:txBody>
          <a:bodyPr/>
          <a:lstStyle/>
          <a:p>
            <a:fld id="{A1298C51-975A-47E7-B82D-7B357E560500}" type="datetimeFigureOut">
              <a:rPr lang="es-EC" smtClean="0"/>
              <a:t>11/10/2026</a:t>
            </a:fld>
            <a:endParaRPr lang="es-EC"/>
          </a:p>
        </p:txBody>
      </p:sp>
      <p:sp>
        <p:nvSpPr>
          <p:cNvPr id="5" name="Marcador de pie de página 4"/>
          <p:cNvSpPr>
            <a:spLocks noGrp="1"/>
          </p:cNvSpPr>
          <p:nvPr>
            <p:ph type="ftr" sz="quarter" idx="11"/>
          </p:nvPr>
        </p:nvSpPr>
        <p:spPr>
          <a:xfrm>
            <a:off x="4038600" y="6082030"/>
            <a:ext cx="4114800" cy="365125"/>
          </a:xfrm>
        </p:spPr>
        <p:txBody>
          <a:bodyPr/>
          <a:lstStyle/>
          <a:p>
            <a:endParaRPr lang="es-EC" dirty="0"/>
          </a:p>
        </p:txBody>
      </p:sp>
      <p:sp>
        <p:nvSpPr>
          <p:cNvPr id="6" name="Marcador de número de diapositiva 5"/>
          <p:cNvSpPr>
            <a:spLocks noGrp="1"/>
          </p:cNvSpPr>
          <p:nvPr>
            <p:ph type="sldNum" sz="quarter" idx="12"/>
          </p:nvPr>
        </p:nvSpPr>
        <p:spPr>
          <a:xfrm>
            <a:off x="8610600" y="6082030"/>
            <a:ext cx="2743200" cy="365125"/>
          </a:xfrm>
        </p:spPr>
        <p:txBody>
          <a:bodyPr/>
          <a:lstStyle/>
          <a:p>
            <a:fld id="{B1671FD0-766A-4664-840B-44A55B7D8810}" type="slidenum">
              <a:rPr lang="es-EC" smtClean="0"/>
              <a:t>‹#›</a:t>
            </a:fld>
            <a:endParaRPr lang="es-EC"/>
          </a:p>
        </p:txBody>
      </p:sp>
      <p:grpSp>
        <p:nvGrpSpPr>
          <p:cNvPr id="7" name="Grupo 1"/>
          <p:cNvGrpSpPr/>
          <p:nvPr userDrawn="1"/>
        </p:nvGrpSpPr>
        <p:grpSpPr>
          <a:xfrm>
            <a:off x="0" y="-3759"/>
            <a:ext cx="12192000" cy="1088967"/>
            <a:chOff x="0" y="-1"/>
            <a:chExt cx="12192000" cy="1088967"/>
          </a:xfrm>
        </p:grpSpPr>
        <p:sp>
          <p:nvSpPr>
            <p:cNvPr id="8" name="Rectángulo 2"/>
            <p:cNvSpPr/>
            <p:nvPr/>
          </p:nvSpPr>
          <p:spPr>
            <a:xfrm>
              <a:off x="0" y="-1"/>
              <a:ext cx="12192000" cy="1088967"/>
            </a:xfrm>
            <a:prstGeom prst="rect">
              <a:avLst/>
            </a:prstGeom>
            <a:gradFill>
              <a:gsLst>
                <a:gs pos="0">
                  <a:srgbClr val="4AAD52"/>
                </a:gs>
                <a:gs pos="100000">
                  <a:srgbClr val="265B9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pic>
          <p:nvPicPr>
            <p:cNvPr id="9" name="Imagen 4"/>
            <p:cNvPicPr>
              <a:picLocks noChangeAspect="1"/>
            </p:cNvPicPr>
            <p:nvPr/>
          </p:nvPicPr>
          <p:blipFill>
            <a:blip r:embed="rId2"/>
            <a:stretch>
              <a:fillRect/>
            </a:stretch>
          </p:blipFill>
          <p:spPr>
            <a:xfrm>
              <a:off x="452135" y="155993"/>
              <a:ext cx="952358" cy="776978"/>
            </a:xfrm>
            <a:prstGeom prst="rect">
              <a:avLst/>
            </a:prstGeom>
          </p:spPr>
        </p:pic>
        <p:pic>
          <p:nvPicPr>
            <p:cNvPr id="10" name="Imagen 5"/>
            <p:cNvPicPr>
              <a:picLocks noChangeAspect="1"/>
            </p:cNvPicPr>
            <p:nvPr/>
          </p:nvPicPr>
          <p:blipFill>
            <a:blip r:embed="rId3"/>
            <a:stretch>
              <a:fillRect/>
            </a:stretch>
          </p:blipFill>
          <p:spPr>
            <a:xfrm>
              <a:off x="11044727" y="162336"/>
              <a:ext cx="1147273" cy="764292"/>
            </a:xfrm>
            <a:prstGeom prst="rect">
              <a:avLst/>
            </a:prstGeom>
          </p:spPr>
        </p:pic>
      </p:grpSp>
      <p:sp>
        <p:nvSpPr>
          <p:cNvPr id="2" name="Título 1"/>
          <p:cNvSpPr>
            <a:spLocks noGrp="1"/>
          </p:cNvSpPr>
          <p:nvPr>
            <p:ph type="title" hasCustomPrompt="1"/>
          </p:nvPr>
        </p:nvSpPr>
        <p:spPr>
          <a:xfrm>
            <a:off x="2686050" y="152236"/>
            <a:ext cx="6812280" cy="776978"/>
          </a:xfrm>
        </p:spPr>
        <p:txBody>
          <a:bodyPr>
            <a:normAutofit/>
          </a:bodyPr>
          <a:lstStyle>
            <a:lvl1pPr algn="ctr">
              <a:defRPr sz="1800" b="1" baseline="0">
                <a:solidFill>
                  <a:schemeClr val="bg1"/>
                </a:solidFill>
                <a:latin typeface="Arial" panose="020B0604020202020204" pitchFamily="34" charset="0"/>
                <a:cs typeface="Arial" panose="020B0604020202020204" pitchFamily="34" charset="0"/>
              </a:defRPr>
            </a:lvl1pPr>
          </a:lstStyle>
          <a:p>
            <a:r>
              <a:rPr lang="es-ES" dirty="0"/>
              <a:t>TITULO DE LA MATERIA</a:t>
            </a:r>
            <a:endParaRPr lang="es-EC" dirty="0"/>
          </a:p>
        </p:txBody>
      </p:sp>
      <p:sp>
        <p:nvSpPr>
          <p:cNvPr id="12" name="Rectángulo 12"/>
          <p:cNvSpPr/>
          <p:nvPr userDrawn="1"/>
        </p:nvSpPr>
        <p:spPr>
          <a:xfrm>
            <a:off x="0" y="6570172"/>
            <a:ext cx="12192000" cy="299258"/>
          </a:xfrm>
          <a:prstGeom prst="rect">
            <a:avLst/>
          </a:prstGeom>
          <a:gradFill>
            <a:gsLst>
              <a:gs pos="0">
                <a:srgbClr val="4AAD52"/>
              </a:gs>
              <a:gs pos="100000">
                <a:srgbClr val="265B91"/>
              </a:gs>
            </a:gsLst>
            <a:lin ang="27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cxnSp>
        <p:nvCxnSpPr>
          <p:cNvPr id="13" name="Conector recto 8"/>
          <p:cNvCxnSpPr/>
          <p:nvPr userDrawn="1"/>
        </p:nvCxnSpPr>
        <p:spPr>
          <a:xfrm>
            <a:off x="598516" y="2337181"/>
            <a:ext cx="10756669" cy="0"/>
          </a:xfrm>
          <a:prstGeom prst="line">
            <a:avLst/>
          </a:prstGeom>
          <a:ln w="53975">
            <a:gradFill>
              <a:gsLst>
                <a:gs pos="0">
                  <a:srgbClr val="4AAD52"/>
                </a:gs>
                <a:gs pos="100000">
                  <a:srgbClr val="265B91"/>
                </a:gs>
              </a:gsLst>
              <a:lin ang="2700000" scaled="0"/>
            </a:gradFill>
          </a:ln>
        </p:spPr>
        <p:style>
          <a:lnRef idx="1">
            <a:schemeClr val="accent1"/>
          </a:lnRef>
          <a:fillRef idx="0">
            <a:schemeClr val="accent1"/>
          </a:fillRef>
          <a:effectRef idx="0">
            <a:schemeClr val="accent1"/>
          </a:effectRef>
          <a:fontRef idx="minor">
            <a:schemeClr val="tx1"/>
          </a:fontRef>
        </p:style>
      </p:cxnSp>
      <p:sp>
        <p:nvSpPr>
          <p:cNvPr id="15" name="CuadroTexto 9"/>
          <p:cNvSpPr txBox="1"/>
          <p:nvPr userDrawn="1"/>
        </p:nvSpPr>
        <p:spPr>
          <a:xfrm>
            <a:off x="598516" y="2527069"/>
            <a:ext cx="10756669" cy="369332"/>
          </a:xfrm>
          <a:prstGeom prst="rect">
            <a:avLst/>
          </a:prstGeom>
          <a:noFill/>
        </p:spPr>
        <p:txBody>
          <a:bodyPr wrap="square" rtlCol="0">
            <a:spAutoFit/>
          </a:bodyPr>
          <a:lstStyle/>
          <a:p>
            <a:r>
              <a:rPr lang="es-EC" b="1" dirty="0">
                <a:solidFill>
                  <a:srgbClr val="4AAD52"/>
                </a:solidFill>
                <a:latin typeface="Arial" panose="020B0604020202020204" pitchFamily="34" charset="0"/>
                <a:ea typeface="Open Sans Semibold" panose="020B0706030804020204" pitchFamily="34" charset="0"/>
                <a:cs typeface="Arial" panose="020B0604020202020204" pitchFamily="34" charset="0"/>
              </a:rPr>
              <a:t>SUBTÍTULO: (OPINION PRO SEMI BOLD)</a:t>
            </a:r>
          </a:p>
        </p:txBody>
      </p:sp>
      <p:sp>
        <p:nvSpPr>
          <p:cNvPr id="16" name="Título 1"/>
          <p:cNvSpPr txBox="1">
            <a:spLocks/>
          </p:cNvSpPr>
          <p:nvPr userDrawn="1"/>
        </p:nvSpPr>
        <p:spPr>
          <a:xfrm>
            <a:off x="598516" y="1447636"/>
            <a:ext cx="6812280" cy="776978"/>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1800" b="1" kern="1200" baseline="0">
                <a:solidFill>
                  <a:schemeClr val="bg1"/>
                </a:solidFill>
                <a:latin typeface="Arial" panose="020B0604020202020204" pitchFamily="34" charset="0"/>
                <a:ea typeface="+mj-ea"/>
                <a:cs typeface="Arial" panose="020B0604020202020204" pitchFamily="34" charset="0"/>
              </a:defRPr>
            </a:lvl1pPr>
          </a:lstStyle>
          <a:p>
            <a:pPr marL="0" marR="0" indent="0" algn="ctr" defTabSz="914400" rtl="0" eaLnBrk="1" fontAlgn="auto" latinLnBrk="0" hangingPunct="1">
              <a:lnSpc>
                <a:spcPct val="90000"/>
              </a:lnSpc>
              <a:spcBef>
                <a:spcPct val="0"/>
              </a:spcBef>
              <a:spcAft>
                <a:spcPts val="0"/>
              </a:spcAft>
              <a:buClrTx/>
              <a:buSzTx/>
              <a:buFontTx/>
              <a:buNone/>
              <a:tabLst/>
              <a:defRPr/>
            </a:pPr>
            <a:r>
              <a:rPr lang="es-ES" dirty="0"/>
              <a:t>TITULO D</a:t>
            </a:r>
            <a:r>
              <a:rPr lang="es-EC" sz="1800" b="1" dirty="0">
                <a:solidFill>
                  <a:srgbClr val="265B91"/>
                </a:solidFill>
                <a:latin typeface="Arial" panose="020B0604020202020204" pitchFamily="34" charset="0"/>
                <a:cs typeface="Arial" panose="020B0604020202020204" pitchFamily="34" charset="0"/>
              </a:rPr>
              <a:t>TÍTULO DEL TEMA</a:t>
            </a:r>
          </a:p>
          <a:p>
            <a:r>
              <a:rPr lang="es-ES" dirty="0"/>
              <a:t>E LA MATERIA</a:t>
            </a:r>
            <a:endParaRPr lang="es-EC" dirty="0"/>
          </a:p>
        </p:txBody>
      </p:sp>
    </p:spTree>
    <p:extLst>
      <p:ext uri="{BB962C8B-B14F-4D97-AF65-F5344CB8AC3E}">
        <p14:creationId xmlns:p14="http://schemas.microsoft.com/office/powerpoint/2010/main" val="160145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600725" y="1268095"/>
            <a:ext cx="10754460" cy="1325563"/>
          </a:xfrm>
        </p:spPr>
        <p:txBody>
          <a:bodyPr>
            <a:normAutofit/>
          </a:bodyPr>
          <a:lstStyle>
            <a:lvl1pPr>
              <a:defRPr sz="4000" b="1" baseline="0">
                <a:solidFill>
                  <a:srgbClr val="265B91"/>
                </a:solidFill>
                <a:latin typeface="Arial" panose="020B0604020202020204" pitchFamily="34" charset="0"/>
                <a:cs typeface="Arial" panose="020B0604020202020204" pitchFamily="34" charset="0"/>
              </a:defRPr>
            </a:lvl1pPr>
          </a:lstStyle>
          <a:p>
            <a:r>
              <a:rPr lang="es-ES" dirty="0"/>
              <a:t>TITULO DEL TEMA</a:t>
            </a:r>
            <a:endParaRPr lang="es-EC" dirty="0"/>
          </a:p>
        </p:txBody>
      </p:sp>
      <p:sp>
        <p:nvSpPr>
          <p:cNvPr id="3" name="Marcador de fecha 2"/>
          <p:cNvSpPr>
            <a:spLocks noGrp="1"/>
          </p:cNvSpPr>
          <p:nvPr>
            <p:ph type="dt" sz="half" idx="10"/>
          </p:nvPr>
        </p:nvSpPr>
        <p:spPr/>
        <p:txBody>
          <a:bodyPr/>
          <a:lstStyle/>
          <a:p>
            <a:fld id="{A1298C51-975A-47E7-B82D-7B357E560500}" type="datetimeFigureOut">
              <a:rPr lang="es-EC" smtClean="0"/>
              <a:t>11/10/2026</a:t>
            </a:fld>
            <a:endParaRPr lang="es-EC"/>
          </a:p>
        </p:txBody>
      </p:sp>
      <p:sp>
        <p:nvSpPr>
          <p:cNvPr id="4" name="Marcador de pie de página 3"/>
          <p:cNvSpPr>
            <a:spLocks noGrp="1"/>
          </p:cNvSpPr>
          <p:nvPr>
            <p:ph type="ftr" sz="quarter" idx="11"/>
          </p:nvPr>
        </p:nvSpPr>
        <p:spPr/>
        <p:txBody>
          <a:bodyPr/>
          <a:lstStyle/>
          <a:p>
            <a:endParaRPr lang="es-EC"/>
          </a:p>
        </p:txBody>
      </p:sp>
      <p:sp>
        <p:nvSpPr>
          <p:cNvPr id="5" name="Marcador de número de diapositiva 4"/>
          <p:cNvSpPr>
            <a:spLocks noGrp="1"/>
          </p:cNvSpPr>
          <p:nvPr>
            <p:ph type="sldNum" sz="quarter" idx="12"/>
          </p:nvPr>
        </p:nvSpPr>
        <p:spPr/>
        <p:txBody>
          <a:bodyPr/>
          <a:lstStyle/>
          <a:p>
            <a:fld id="{B1671FD0-766A-4664-840B-44A55B7D8810}" type="slidenum">
              <a:rPr lang="es-EC" smtClean="0"/>
              <a:t>‹#›</a:t>
            </a:fld>
            <a:endParaRPr lang="es-EC"/>
          </a:p>
        </p:txBody>
      </p:sp>
      <p:grpSp>
        <p:nvGrpSpPr>
          <p:cNvPr id="10" name="Grupo 1"/>
          <p:cNvGrpSpPr/>
          <p:nvPr userDrawn="1"/>
        </p:nvGrpSpPr>
        <p:grpSpPr>
          <a:xfrm>
            <a:off x="0" y="-3759"/>
            <a:ext cx="12192000" cy="1088967"/>
            <a:chOff x="0" y="-1"/>
            <a:chExt cx="12192000" cy="1088967"/>
          </a:xfrm>
        </p:grpSpPr>
        <p:sp>
          <p:nvSpPr>
            <p:cNvPr id="11" name="Rectángulo 2"/>
            <p:cNvSpPr/>
            <p:nvPr/>
          </p:nvSpPr>
          <p:spPr>
            <a:xfrm>
              <a:off x="0" y="-1"/>
              <a:ext cx="12192000" cy="1088967"/>
            </a:xfrm>
            <a:prstGeom prst="rect">
              <a:avLst/>
            </a:prstGeom>
            <a:gradFill>
              <a:gsLst>
                <a:gs pos="0">
                  <a:srgbClr val="4AAD52"/>
                </a:gs>
                <a:gs pos="100000">
                  <a:srgbClr val="265B9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pic>
          <p:nvPicPr>
            <p:cNvPr id="12" name="Imagen 4"/>
            <p:cNvPicPr>
              <a:picLocks noChangeAspect="1"/>
            </p:cNvPicPr>
            <p:nvPr/>
          </p:nvPicPr>
          <p:blipFill>
            <a:blip r:embed="rId2"/>
            <a:stretch>
              <a:fillRect/>
            </a:stretch>
          </p:blipFill>
          <p:spPr>
            <a:xfrm>
              <a:off x="452135" y="155993"/>
              <a:ext cx="952358" cy="776978"/>
            </a:xfrm>
            <a:prstGeom prst="rect">
              <a:avLst/>
            </a:prstGeom>
          </p:spPr>
        </p:pic>
        <p:pic>
          <p:nvPicPr>
            <p:cNvPr id="13" name="Imagen 5"/>
            <p:cNvPicPr>
              <a:picLocks noChangeAspect="1"/>
            </p:cNvPicPr>
            <p:nvPr/>
          </p:nvPicPr>
          <p:blipFill>
            <a:blip r:embed="rId3"/>
            <a:stretch>
              <a:fillRect/>
            </a:stretch>
          </p:blipFill>
          <p:spPr>
            <a:xfrm>
              <a:off x="11044727" y="162336"/>
              <a:ext cx="1147273" cy="764292"/>
            </a:xfrm>
            <a:prstGeom prst="rect">
              <a:avLst/>
            </a:prstGeom>
          </p:spPr>
        </p:pic>
      </p:grpSp>
      <p:sp>
        <p:nvSpPr>
          <p:cNvPr id="14" name="CuadroTexto 14"/>
          <p:cNvSpPr txBox="1"/>
          <p:nvPr userDrawn="1"/>
        </p:nvSpPr>
        <p:spPr>
          <a:xfrm>
            <a:off x="2261062" y="268376"/>
            <a:ext cx="7789025" cy="369332"/>
          </a:xfrm>
          <a:prstGeom prst="rect">
            <a:avLst/>
          </a:prstGeom>
          <a:noFill/>
        </p:spPr>
        <p:txBody>
          <a:bodyPr wrap="square" rtlCol="0">
            <a:spAutoFit/>
          </a:bodyPr>
          <a:lstStyle/>
          <a:p>
            <a:pPr algn="ctr"/>
            <a:r>
              <a:rPr lang="es-EC" b="1" dirty="0">
                <a:solidFill>
                  <a:schemeClr val="bg1"/>
                </a:solidFill>
                <a:latin typeface="Arial" panose="020B0604020202020204" pitchFamily="34" charset="0"/>
                <a:cs typeface="Arial" panose="020B0604020202020204" pitchFamily="34" charset="0"/>
              </a:rPr>
              <a:t>TÍTULO DE LA MATERIA</a:t>
            </a:r>
          </a:p>
        </p:txBody>
      </p:sp>
      <p:cxnSp>
        <p:nvCxnSpPr>
          <p:cNvPr id="15" name="Conector recto 8"/>
          <p:cNvCxnSpPr/>
          <p:nvPr userDrawn="1"/>
        </p:nvCxnSpPr>
        <p:spPr>
          <a:xfrm>
            <a:off x="598516" y="2337181"/>
            <a:ext cx="10756669" cy="0"/>
          </a:xfrm>
          <a:prstGeom prst="line">
            <a:avLst/>
          </a:prstGeom>
          <a:ln w="53975">
            <a:gradFill>
              <a:gsLst>
                <a:gs pos="0">
                  <a:srgbClr val="4AAD52"/>
                </a:gs>
                <a:gs pos="100000">
                  <a:srgbClr val="265B91"/>
                </a:gs>
              </a:gsLst>
              <a:lin ang="2700000" scaled="0"/>
            </a:gradFill>
          </a:ln>
        </p:spPr>
        <p:style>
          <a:lnRef idx="1">
            <a:schemeClr val="accent1"/>
          </a:lnRef>
          <a:fillRef idx="0">
            <a:schemeClr val="accent1"/>
          </a:fillRef>
          <a:effectRef idx="0">
            <a:schemeClr val="accent1"/>
          </a:effectRef>
          <a:fontRef idx="minor">
            <a:schemeClr val="tx1"/>
          </a:fontRef>
        </p:style>
      </p:cxnSp>
      <p:sp>
        <p:nvSpPr>
          <p:cNvPr id="16" name="Marcador de contenido 2"/>
          <p:cNvSpPr>
            <a:spLocks noGrp="1"/>
          </p:cNvSpPr>
          <p:nvPr>
            <p:ph sz="half" idx="1"/>
          </p:nvPr>
        </p:nvSpPr>
        <p:spPr>
          <a:xfrm>
            <a:off x="598515" y="2740025"/>
            <a:ext cx="10756669" cy="3317875"/>
          </a:xfrm>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EC" dirty="0"/>
          </a:p>
        </p:txBody>
      </p:sp>
    </p:spTree>
    <p:extLst>
      <p:ext uri="{BB962C8B-B14F-4D97-AF65-F5344CB8AC3E}">
        <p14:creationId xmlns:p14="http://schemas.microsoft.com/office/powerpoint/2010/main" val="3366214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gradFill>
          <a:gsLst>
            <a:gs pos="0">
              <a:srgbClr val="4AAD52"/>
            </a:gs>
            <a:gs pos="100000">
              <a:srgbClr val="265B91"/>
            </a:gs>
          </a:gsLst>
          <a:lin ang="2700000" scaled="0"/>
        </a:gra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8200" y="576263"/>
            <a:ext cx="10515600" cy="2109787"/>
          </a:xfrm>
        </p:spPr>
        <p:txBody>
          <a:bodyPr anchor="b"/>
          <a:lstStyle>
            <a:lvl1pPr>
              <a:defRPr sz="6000"/>
            </a:lvl1pPr>
          </a:lstStyle>
          <a:p>
            <a:r>
              <a:rPr lang="es-ES"/>
              <a:t>Haga clic para modificar el estilo de título del patrón</a:t>
            </a:r>
            <a:endParaRPr lang="es-EC"/>
          </a:p>
        </p:txBody>
      </p:sp>
      <p:sp>
        <p:nvSpPr>
          <p:cNvPr id="3" name="Marcador de texto 2"/>
          <p:cNvSpPr>
            <a:spLocks noGrp="1"/>
          </p:cNvSpPr>
          <p:nvPr>
            <p:ph type="body" idx="1"/>
          </p:nvPr>
        </p:nvSpPr>
        <p:spPr>
          <a:xfrm>
            <a:off x="854710" y="425799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el estilo de texto del patrón</a:t>
            </a:r>
          </a:p>
        </p:txBody>
      </p:sp>
      <p:sp>
        <p:nvSpPr>
          <p:cNvPr id="4" name="Marcador de fecha 3"/>
          <p:cNvSpPr>
            <a:spLocks noGrp="1"/>
          </p:cNvSpPr>
          <p:nvPr>
            <p:ph type="dt" sz="half" idx="10"/>
          </p:nvPr>
        </p:nvSpPr>
        <p:spPr/>
        <p:txBody>
          <a:bodyPr/>
          <a:lstStyle/>
          <a:p>
            <a:fld id="{A1298C51-975A-47E7-B82D-7B357E560500}" type="datetimeFigureOut">
              <a:rPr lang="es-EC" smtClean="0"/>
              <a:t>11/10/2026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B1671FD0-766A-4664-840B-44A55B7D8810}" type="slidenum">
              <a:rPr lang="es-EC" smtClean="0"/>
              <a:t>‹#›</a:t>
            </a:fld>
            <a:endParaRPr lang="es-EC"/>
          </a:p>
        </p:txBody>
      </p:sp>
      <p:grpSp>
        <p:nvGrpSpPr>
          <p:cNvPr id="7" name="Grupo 4"/>
          <p:cNvGrpSpPr/>
          <p:nvPr userDrawn="1"/>
        </p:nvGrpSpPr>
        <p:grpSpPr>
          <a:xfrm>
            <a:off x="2223893" y="2813171"/>
            <a:ext cx="7819215" cy="1231658"/>
            <a:chOff x="2223893" y="2813171"/>
            <a:chExt cx="7819215" cy="1231658"/>
          </a:xfrm>
        </p:grpSpPr>
        <p:pic>
          <p:nvPicPr>
            <p:cNvPr id="8" name="Imagen 1"/>
            <p:cNvPicPr>
              <a:picLocks noChangeAspect="1"/>
            </p:cNvPicPr>
            <p:nvPr/>
          </p:nvPicPr>
          <p:blipFill>
            <a:blip r:embed="rId2"/>
            <a:stretch>
              <a:fillRect/>
            </a:stretch>
          </p:blipFill>
          <p:spPr>
            <a:xfrm>
              <a:off x="2223893" y="2813171"/>
              <a:ext cx="1509669" cy="1231658"/>
            </a:xfrm>
            <a:prstGeom prst="rect">
              <a:avLst/>
            </a:prstGeom>
          </p:spPr>
        </p:pic>
        <p:pic>
          <p:nvPicPr>
            <p:cNvPr id="9" name="Imagen 2"/>
            <p:cNvPicPr>
              <a:picLocks noChangeAspect="1"/>
            </p:cNvPicPr>
            <p:nvPr/>
          </p:nvPicPr>
          <p:blipFill>
            <a:blip r:embed="rId3"/>
            <a:stretch>
              <a:fillRect/>
            </a:stretch>
          </p:blipFill>
          <p:spPr>
            <a:xfrm>
              <a:off x="8283685" y="2842953"/>
              <a:ext cx="1759423" cy="1172095"/>
            </a:xfrm>
            <a:prstGeom prst="rect">
              <a:avLst/>
            </a:prstGeom>
          </p:spPr>
        </p:pic>
        <p:sp>
          <p:nvSpPr>
            <p:cNvPr id="10" name="CuadroTexto 3"/>
            <p:cNvSpPr txBox="1"/>
            <p:nvPr/>
          </p:nvSpPr>
          <p:spPr>
            <a:xfrm>
              <a:off x="4374547" y="3044280"/>
              <a:ext cx="3442906" cy="769441"/>
            </a:xfrm>
            <a:prstGeom prst="rect">
              <a:avLst/>
            </a:prstGeom>
            <a:noFill/>
          </p:spPr>
          <p:txBody>
            <a:bodyPr wrap="square" rtlCol="0">
              <a:spAutoFit/>
            </a:bodyPr>
            <a:lstStyle/>
            <a:p>
              <a:pPr algn="ctr"/>
              <a:r>
                <a:rPr lang="es-EC" sz="4400" b="1" dirty="0">
                  <a:solidFill>
                    <a:schemeClr val="bg1"/>
                  </a:solidFill>
                  <a:latin typeface="Arial" panose="020B0604020202020204" pitchFamily="34" charset="0"/>
                  <a:cs typeface="Arial" panose="020B0604020202020204" pitchFamily="34" charset="0"/>
                </a:rPr>
                <a:t>¡GRACIAS!</a:t>
              </a:r>
            </a:p>
          </p:txBody>
        </p:sp>
      </p:grpSp>
    </p:spTree>
    <p:extLst>
      <p:ext uri="{BB962C8B-B14F-4D97-AF65-F5344CB8AC3E}">
        <p14:creationId xmlns:p14="http://schemas.microsoft.com/office/powerpoint/2010/main" val="2821641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contenido 2"/>
          <p:cNvSpPr>
            <a:spLocks noGrp="1"/>
          </p:cNvSpPr>
          <p:nvPr>
            <p:ph sz="half" idx="1"/>
          </p:nvPr>
        </p:nvSpPr>
        <p:spPr>
          <a:xfrm>
            <a:off x="838200" y="1825625"/>
            <a:ext cx="5181600" cy="4351338"/>
          </a:xfrm>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EC" dirty="0"/>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p:cNvSpPr>
            <a:spLocks noGrp="1"/>
          </p:cNvSpPr>
          <p:nvPr>
            <p:ph type="dt" sz="half" idx="10"/>
          </p:nvPr>
        </p:nvSpPr>
        <p:spPr/>
        <p:txBody>
          <a:bodyPr/>
          <a:lstStyle/>
          <a:p>
            <a:fld id="{A1298C51-975A-47E7-B82D-7B357E560500}" type="datetimeFigureOut">
              <a:rPr lang="es-EC" smtClean="0"/>
              <a:t>11/10/2026</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B1671FD0-766A-4664-840B-44A55B7D8810}" type="slidenum">
              <a:rPr lang="es-EC" smtClean="0"/>
              <a:t>‹#›</a:t>
            </a:fld>
            <a:endParaRPr lang="es-EC"/>
          </a:p>
        </p:txBody>
      </p:sp>
    </p:spTree>
    <p:extLst>
      <p:ext uri="{BB962C8B-B14F-4D97-AF65-F5344CB8AC3E}">
        <p14:creationId xmlns:p14="http://schemas.microsoft.com/office/powerpoint/2010/main" val="3813637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dirty="0"/>
              <a:t>Haga clic para modificar el estilo de título del patrón</a:t>
            </a:r>
            <a:endParaRPr lang="es-EC" dirty="0"/>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Haga clic para modificar el estilo de texto del patrón</a:t>
            </a:r>
          </a:p>
        </p:txBody>
      </p:sp>
      <p:sp>
        <p:nvSpPr>
          <p:cNvPr id="5" name="Marcador de fecha 4"/>
          <p:cNvSpPr>
            <a:spLocks noGrp="1"/>
          </p:cNvSpPr>
          <p:nvPr>
            <p:ph type="dt" sz="half" idx="10"/>
          </p:nvPr>
        </p:nvSpPr>
        <p:spPr/>
        <p:txBody>
          <a:bodyPr/>
          <a:lstStyle/>
          <a:p>
            <a:fld id="{A1298C51-975A-47E7-B82D-7B357E560500}" type="datetimeFigureOut">
              <a:rPr lang="es-EC" smtClean="0"/>
              <a:t>11/10/2026</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B1671FD0-766A-4664-840B-44A55B7D8810}" type="slidenum">
              <a:rPr lang="es-EC" smtClean="0"/>
              <a:t>‹#›</a:t>
            </a:fld>
            <a:endParaRPr lang="es-EC"/>
          </a:p>
        </p:txBody>
      </p:sp>
    </p:spTree>
    <p:extLst>
      <p:ext uri="{BB962C8B-B14F-4D97-AF65-F5344CB8AC3E}">
        <p14:creationId xmlns:p14="http://schemas.microsoft.com/office/powerpoint/2010/main" val="2883435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A1298C51-975A-47E7-B82D-7B357E560500}" type="datetimeFigureOut">
              <a:rPr lang="es-EC" smtClean="0"/>
              <a:t>11/10/2026</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B1671FD0-766A-4664-840B-44A55B7D8810}" type="slidenum">
              <a:rPr lang="es-EC" smtClean="0"/>
              <a:t>‹#›</a:t>
            </a:fld>
            <a:endParaRPr lang="es-EC"/>
          </a:p>
        </p:txBody>
      </p:sp>
    </p:spTree>
    <p:extLst>
      <p:ext uri="{BB962C8B-B14F-4D97-AF65-F5344CB8AC3E}">
        <p14:creationId xmlns:p14="http://schemas.microsoft.com/office/powerpoint/2010/main" val="2004226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A1298C51-975A-47E7-B82D-7B357E560500}" type="datetimeFigureOut">
              <a:rPr lang="es-EC" smtClean="0"/>
              <a:t>11/10/2026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B1671FD0-766A-4664-840B-44A55B7D8810}" type="slidenum">
              <a:rPr lang="es-EC" smtClean="0"/>
              <a:t>‹#›</a:t>
            </a:fld>
            <a:endParaRPr lang="es-EC"/>
          </a:p>
        </p:txBody>
      </p:sp>
    </p:spTree>
    <p:extLst>
      <p:ext uri="{BB962C8B-B14F-4D97-AF65-F5344CB8AC3E}">
        <p14:creationId xmlns:p14="http://schemas.microsoft.com/office/powerpoint/2010/main" val="2168710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A1298C51-975A-47E7-B82D-7B357E560500}" type="datetimeFigureOut">
              <a:rPr lang="es-EC" smtClean="0"/>
              <a:t>11/10/2026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B1671FD0-766A-4664-840B-44A55B7D8810}" type="slidenum">
              <a:rPr lang="es-EC" smtClean="0"/>
              <a:t>‹#›</a:t>
            </a:fld>
            <a:endParaRPr lang="es-EC"/>
          </a:p>
        </p:txBody>
      </p:sp>
    </p:spTree>
    <p:extLst>
      <p:ext uri="{BB962C8B-B14F-4D97-AF65-F5344CB8AC3E}">
        <p14:creationId xmlns:p14="http://schemas.microsoft.com/office/powerpoint/2010/main" val="1777537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EC" dirty="0"/>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298C51-975A-47E7-B82D-7B357E560500}" type="datetimeFigureOut">
              <a:rPr lang="es-EC" smtClean="0"/>
              <a:t>11/10/2026</a:t>
            </a:fld>
            <a:endParaRPr lang="es-EC"/>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671FD0-766A-4664-840B-44A55B7D8810}" type="slidenum">
              <a:rPr lang="es-EC" smtClean="0"/>
              <a:t>‹#›</a:t>
            </a:fld>
            <a:endParaRPr lang="es-EC"/>
          </a:p>
        </p:txBody>
      </p:sp>
    </p:spTree>
    <p:extLst>
      <p:ext uri="{BB962C8B-B14F-4D97-AF65-F5344CB8AC3E}">
        <p14:creationId xmlns:p14="http://schemas.microsoft.com/office/powerpoint/2010/main" val="3083309845"/>
      </p:ext>
    </p:extLst>
  </p:cSld>
  <p:clrMap bg1="lt1" tx1="dk1" bg2="lt2" tx2="dk2" accent1="accent1" accent2="accent2" accent3="accent3" accent4="accent4" accent5="accent5" accent6="accent6" hlink="hlink" folHlink="folHlink"/>
  <p:sldLayoutIdLst>
    <p:sldLayoutId id="2147483655" r:id="rId1"/>
    <p:sldLayoutId id="2147483649" r:id="rId2"/>
    <p:sldLayoutId id="2147483653" r:id="rId3"/>
    <p:sldLayoutId id="2147483660" r:id="rId4"/>
    <p:sldLayoutId id="2147483650" r:id="rId5"/>
    <p:sldLayoutId id="2147483654" r:id="rId6"/>
    <p:sldLayoutId id="2147483651" r:id="rId7"/>
    <p:sldLayoutId id="2147483652"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3.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3262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n-US" dirty="0"/>
              <a:t>Decision-Making and Strategic Communication in Health</a:t>
            </a:r>
          </a:p>
        </p:txBody>
      </p:sp>
      <p:sp>
        <p:nvSpPr>
          <p:cNvPr id="3" name="2 Subtítulo"/>
          <p:cNvSpPr>
            <a:spLocks noGrp="1"/>
          </p:cNvSpPr>
          <p:nvPr>
            <p:ph type="subTitle" idx="1"/>
          </p:nvPr>
        </p:nvSpPr>
        <p:spPr>
          <a:xfrm>
            <a:off x="1524000" y="3980432"/>
            <a:ext cx="9144000" cy="1655762"/>
          </a:xfrm>
        </p:spPr>
        <p:txBody>
          <a:bodyPr>
            <a:normAutofit fontScale="85000" lnSpcReduction="20000"/>
          </a:bodyPr>
          <a:lstStyle/>
          <a:p>
            <a:pPr marL="285750" indent="-285750">
              <a:buFont typeface="Arial" panose="020B0604020202020204" pitchFamily="34" charset="0"/>
              <a:buChar char="•"/>
            </a:pPr>
            <a:r>
              <a:rPr lang="en-US" sz="2200" dirty="0">
                <a:latin typeface="Century Gothic" panose="020B0502020202020204" pitchFamily="34" charset="0"/>
                <a:cs typeface="Arial" panose="020B0604020202020204" pitchFamily="34" charset="0"/>
              </a:rPr>
              <a:t>Communication Skills, Listening and Nonverbal Communication</a:t>
            </a:r>
          </a:p>
          <a:p>
            <a:pPr marL="285750" indent="-285750">
              <a:buFont typeface="Arial" panose="020B0604020202020204" pitchFamily="34" charset="0"/>
              <a:buChar char="•"/>
            </a:pPr>
            <a:endParaRPr lang="en-US" sz="2200" dirty="0">
              <a:latin typeface="Century Gothic" panose="020B0502020202020204" pitchFamily="34" charset="0"/>
              <a:cs typeface="Arial" panose="020B0604020202020204" pitchFamily="34" charset="0"/>
            </a:endParaRPr>
          </a:p>
          <a:p>
            <a:pPr marL="285750" indent="-285750">
              <a:buFont typeface="Arial" panose="020B0604020202020204" pitchFamily="34" charset="0"/>
              <a:buChar char="•"/>
            </a:pPr>
            <a:r>
              <a:rPr lang="en-US" sz="2200" dirty="0">
                <a:latin typeface="Century Gothic" panose="020B0502020202020204" pitchFamily="34" charset="0"/>
                <a:cs typeface="Arial" panose="020B0604020202020204" pitchFamily="34" charset="0"/>
              </a:rPr>
              <a:t>Health Psychology</a:t>
            </a:r>
          </a:p>
          <a:p>
            <a:pPr marL="285750" indent="-285750">
              <a:buFont typeface="Arial" panose="020B0604020202020204" pitchFamily="34" charset="0"/>
              <a:buChar char="•"/>
            </a:pPr>
            <a:endParaRPr lang="en-US" sz="2200" dirty="0">
              <a:latin typeface="Century Gothic" panose="020B0502020202020204" pitchFamily="34" charset="0"/>
              <a:cs typeface="Arial" panose="020B0604020202020204" pitchFamily="34" charset="0"/>
            </a:endParaRPr>
          </a:p>
          <a:p>
            <a:pPr marL="285750" indent="-285750">
              <a:buFont typeface="Arial" panose="020B0604020202020204" pitchFamily="34" charset="0"/>
              <a:buChar char="•"/>
            </a:pPr>
            <a:r>
              <a:rPr lang="en-US" sz="2200" dirty="0">
                <a:latin typeface="Century Gothic" panose="020B0502020202020204" pitchFamily="34" charset="0"/>
                <a:cs typeface="Arial" panose="020B0604020202020204" pitchFamily="34" charset="0"/>
              </a:rPr>
              <a:t>The Healthcare Communication Process</a:t>
            </a:r>
          </a:p>
        </p:txBody>
      </p:sp>
    </p:spTree>
    <p:extLst>
      <p:ext uri="{BB962C8B-B14F-4D97-AF65-F5344CB8AC3E}">
        <p14:creationId xmlns:p14="http://schemas.microsoft.com/office/powerpoint/2010/main" val="71622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idx="1"/>
          </p:nvPr>
        </p:nvSpPr>
        <p:spPr>
          <a:xfrm>
            <a:off x="585414" y="1215189"/>
            <a:ext cx="10769771" cy="1061286"/>
          </a:xfrm>
        </p:spPr>
        <p:txBody>
          <a:bodyPr>
            <a:normAutofit/>
          </a:bodyPr>
          <a:lstStyle/>
          <a:p>
            <a:pPr algn="ctr"/>
            <a:r>
              <a:rPr lang="en-US" sz="4000" dirty="0">
                <a:effectLst/>
                <a:latin typeface="Century Gothic" panose="020B0502020202020204" pitchFamily="34" charset="0"/>
                <a:ea typeface="Calibri" panose="020F0502020204030204" pitchFamily="34" charset="0"/>
                <a:cs typeface="Arial" panose="020B0604020202020204" pitchFamily="34" charset="0"/>
              </a:rPr>
              <a:t>1. </a:t>
            </a:r>
            <a:r>
              <a:rPr lang="en-US" dirty="0">
                <a:latin typeface="Century Gothic" panose="020B0502020202020204" pitchFamily="34" charset="0"/>
              </a:rPr>
              <a:t>Definition of Communication Skills</a:t>
            </a:r>
            <a:endParaRPr lang="en-US" sz="4000" dirty="0">
              <a:effectLst/>
              <a:latin typeface="Century Gothic" panose="020B0502020202020204" pitchFamily="34" charset="0"/>
              <a:ea typeface="Calibri" panose="020F0502020204030204" pitchFamily="34" charset="0"/>
              <a:cs typeface="Arial" panose="020B0604020202020204" pitchFamily="34" charset="0"/>
            </a:endParaRPr>
          </a:p>
        </p:txBody>
      </p:sp>
      <p:sp>
        <p:nvSpPr>
          <p:cNvPr id="3" name="2 Marcador de contenido"/>
          <p:cNvSpPr>
            <a:spLocks noGrp="1"/>
          </p:cNvSpPr>
          <p:nvPr>
            <p:ph sz="half" idx="2"/>
          </p:nvPr>
        </p:nvSpPr>
        <p:spPr>
          <a:xfrm>
            <a:off x="585414" y="3060530"/>
            <a:ext cx="7870430" cy="4107896"/>
          </a:xfrm>
        </p:spPr>
        <p:txBody>
          <a:bodyPr>
            <a:noAutofit/>
          </a:bodyPr>
          <a:lstStyle/>
          <a:p>
            <a:pPr marL="0" indent="0" algn="just">
              <a:lnSpc>
                <a:spcPct val="120000"/>
              </a:lnSpc>
              <a:spcBef>
                <a:spcPts val="0"/>
              </a:spcBef>
              <a:spcAft>
                <a:spcPts val="600"/>
              </a:spcAft>
              <a:buNone/>
            </a:pPr>
            <a:r>
              <a:rPr lang="en-US" sz="2000" dirty="0">
                <a:latin typeface="Century Gothic" panose="020B0502020202020204" pitchFamily="34" charset="0"/>
              </a:rPr>
              <a:t>Effective communication is the ability to convey information clearly and efficiently. </a:t>
            </a:r>
          </a:p>
          <a:p>
            <a:pPr marL="0" indent="0" algn="just">
              <a:lnSpc>
                <a:spcPct val="120000"/>
              </a:lnSpc>
              <a:spcBef>
                <a:spcPts val="0"/>
              </a:spcBef>
              <a:spcAft>
                <a:spcPts val="600"/>
              </a:spcAft>
              <a:buNone/>
            </a:pPr>
            <a:endParaRPr lang="en-US" sz="2000" dirty="0">
              <a:latin typeface="Century Gothic" panose="020B0502020202020204" pitchFamily="34" charset="0"/>
            </a:endParaRPr>
          </a:p>
          <a:p>
            <a:pPr marL="0" indent="0" algn="just">
              <a:lnSpc>
                <a:spcPct val="120000"/>
              </a:lnSpc>
              <a:spcBef>
                <a:spcPts val="0"/>
              </a:spcBef>
              <a:spcAft>
                <a:spcPts val="600"/>
              </a:spcAft>
              <a:buNone/>
            </a:pPr>
            <a:r>
              <a:rPr lang="en-US" sz="2000" dirty="0">
                <a:latin typeface="Century Gothic" panose="020B0502020202020204" pitchFamily="34" charset="0"/>
              </a:rPr>
              <a:t>Communication skills allow us to express our ideas and receive those of others so that both parties clearly understand the message. </a:t>
            </a:r>
          </a:p>
        </p:txBody>
      </p:sp>
      <p:sp>
        <p:nvSpPr>
          <p:cNvPr id="5" name="4 Título"/>
          <p:cNvSpPr>
            <a:spLocks noGrp="1"/>
          </p:cNvSpPr>
          <p:nvPr>
            <p:ph type="title"/>
          </p:nvPr>
        </p:nvSpPr>
        <p:spPr/>
        <p:txBody>
          <a:bodyPr/>
          <a:lstStyle/>
          <a:p>
            <a:r>
              <a:rPr lang="en-US" dirty="0"/>
              <a:t>Decision-Making and Strategic Communication in Health</a:t>
            </a:r>
          </a:p>
        </p:txBody>
      </p:sp>
    </p:spTree>
    <p:extLst>
      <p:ext uri="{BB962C8B-B14F-4D97-AF65-F5344CB8AC3E}">
        <p14:creationId xmlns:p14="http://schemas.microsoft.com/office/powerpoint/2010/main" val="1814879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37704652-77B6-4880-BD5F-FCF53DB29C93}"/>
              </a:ext>
            </a:extLst>
          </p:cNvPr>
          <p:cNvSpPr>
            <a:spLocks noGrp="1"/>
          </p:cNvSpPr>
          <p:nvPr>
            <p:ph type="title"/>
          </p:nvPr>
        </p:nvSpPr>
        <p:spPr/>
        <p:txBody>
          <a:bodyPr/>
          <a:lstStyle/>
          <a:p>
            <a:r>
              <a:rPr lang="en-US" dirty="0"/>
              <a:t>Decision-Making and Strategic Communication in Health</a:t>
            </a:r>
          </a:p>
        </p:txBody>
      </p:sp>
      <p:grpSp>
        <p:nvGrpSpPr>
          <p:cNvPr id="1999" name="Effective Communication (EN)"/>
          <p:cNvGrpSpPr/>
          <p:nvPr/>
        </p:nvGrpSpPr>
        <p:grpSpPr>
          <a:xfrm>
            <a:off x="6421244" y="1291471"/>
            <a:ext cx="5405758" cy="5151749"/>
            <a:chOff x="6421244" y="1291471"/>
            <a:chExt cx="5405758" cy="5151749"/>
          </a:xfrm>
        </p:grpSpPr>
        <p:pic>
          <p:nvPicPr>
            <p:cNvPr id="1026" name="Picture 2" descr="Comunicación Efectiva">
              <a:extLst>
                <a:ext uri="{FF2B5EF4-FFF2-40B4-BE49-F238E27FC236}">
                  <a16:creationId xmlns:a16="http://schemas.microsoft.com/office/drawing/2014/main" id="{A40208C3-24D2-4622-868A-82F20B1005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1244" y="1291471"/>
              <a:ext cx="5405758" cy="5151749"/>
            </a:xfrm>
            <a:prstGeom prst="rect">
              <a:avLst/>
            </a:prstGeom>
            <a:noFill/>
            <a:extLst>
              <a:ext uri="{909E8E84-426E-40DD-AFC4-6F175D3DCCD1}">
                <a14:hiddenFill xmlns:a14="http://schemas.microsoft.com/office/drawing/2010/main">
                  <a:solidFill>
                    <a:srgbClr val="FFFFFF"/>
                  </a:solidFill>
                </a14:hiddenFill>
              </a:ext>
            </a:extLst>
          </p:spPr>
        </p:pic>
        <p:sp>
          <p:nvSpPr>
            <p:cNvPr id="2104" name="Mask 2104"/>
            <p:cNvSpPr/>
            <p:nvPr/>
          </p:nvSpPr>
          <p:spPr>
            <a:xfrm>
              <a:off x="10277635" y="4178153"/>
              <a:ext cx="1089665" cy="93668"/>
            </a:xfrm>
            <a:prstGeom prst="rect">
              <a:avLst/>
            </a:prstGeom>
            <a:solidFill>
              <a:srgbClr val="FFFFFF"/>
            </a:solidFill>
            <a:ln>
              <a:noFill/>
            </a:ln>
          </p:spPr>
          <p:txBody>
            <a:bodyPr/>
            <a:lstStyle/>
            <a:p>
              <a:endParaRPr lang="en-US"/>
            </a:p>
          </p:txBody>
        </p:sp>
        <p:sp>
          <p:nvSpPr>
            <p:cNvPr id="2103" name="Mask 2103"/>
            <p:cNvSpPr/>
            <p:nvPr/>
          </p:nvSpPr>
          <p:spPr>
            <a:xfrm>
              <a:off x="7536448" y="5336233"/>
              <a:ext cx="229851" cy="212882"/>
            </a:xfrm>
            <a:prstGeom prst="rect">
              <a:avLst/>
            </a:prstGeom>
            <a:solidFill>
              <a:srgbClr val="FFFFFF"/>
            </a:solidFill>
            <a:ln>
              <a:noFill/>
            </a:ln>
          </p:spPr>
          <p:txBody>
            <a:bodyPr/>
            <a:lstStyle/>
            <a:p>
              <a:endParaRPr lang="en-US"/>
            </a:p>
          </p:txBody>
        </p:sp>
        <p:sp>
          <p:nvSpPr>
            <p:cNvPr id="2102" name="Mask 2102"/>
            <p:cNvSpPr/>
            <p:nvPr/>
          </p:nvSpPr>
          <p:spPr>
            <a:xfrm>
              <a:off x="7766299" y="5225534"/>
              <a:ext cx="766170" cy="323581"/>
            </a:xfrm>
            <a:prstGeom prst="rect">
              <a:avLst/>
            </a:prstGeom>
            <a:solidFill>
              <a:srgbClr val="FFFFFF"/>
            </a:solidFill>
            <a:ln>
              <a:noFill/>
            </a:ln>
          </p:spPr>
          <p:txBody>
            <a:bodyPr/>
            <a:lstStyle/>
            <a:p>
              <a:endParaRPr lang="en-US"/>
            </a:p>
          </p:txBody>
        </p:sp>
        <p:sp>
          <p:nvSpPr>
            <p:cNvPr id="2101" name="Mask 2101"/>
            <p:cNvSpPr/>
            <p:nvPr/>
          </p:nvSpPr>
          <p:spPr>
            <a:xfrm>
              <a:off x="11082114" y="3011559"/>
              <a:ext cx="285186" cy="255459"/>
            </a:xfrm>
            <a:prstGeom prst="rect">
              <a:avLst/>
            </a:prstGeom>
            <a:solidFill>
              <a:srgbClr val="FFFFFF"/>
            </a:solidFill>
            <a:ln>
              <a:noFill/>
            </a:ln>
          </p:spPr>
          <p:txBody>
            <a:bodyPr/>
            <a:lstStyle/>
            <a:p>
              <a:endParaRPr lang="en-US"/>
            </a:p>
          </p:txBody>
        </p:sp>
        <p:sp>
          <p:nvSpPr>
            <p:cNvPr id="2001" name="Mask 2001"/>
            <p:cNvSpPr/>
            <p:nvPr/>
          </p:nvSpPr>
          <p:spPr>
            <a:xfrm>
              <a:off x="7893994" y="2143000"/>
              <a:ext cx="1123717" cy="263974"/>
            </a:xfrm>
            <a:prstGeom prst="rect">
              <a:avLst/>
            </a:prstGeom>
            <a:solidFill>
              <a:srgbClr val="FFFFFF"/>
            </a:solidFill>
            <a:ln>
              <a:noFill/>
            </a:ln>
          </p:spPr>
          <p:txBody>
            <a:bodyPr/>
            <a:lstStyle/>
            <a:p>
              <a:endParaRPr lang="en-US"/>
            </a:p>
          </p:txBody>
        </p:sp>
        <p:sp>
          <p:nvSpPr>
            <p:cNvPr id="2002" name="Mask 2002"/>
            <p:cNvSpPr/>
            <p:nvPr/>
          </p:nvSpPr>
          <p:spPr>
            <a:xfrm>
              <a:off x="7979124" y="2449550"/>
              <a:ext cx="1047100" cy="263974"/>
            </a:xfrm>
            <a:prstGeom prst="rect">
              <a:avLst/>
            </a:prstGeom>
            <a:solidFill>
              <a:srgbClr val="FFFFFF"/>
            </a:solidFill>
            <a:ln>
              <a:noFill/>
            </a:ln>
          </p:spPr>
          <p:txBody>
            <a:bodyPr/>
            <a:lstStyle/>
            <a:p>
              <a:endParaRPr lang="en-US"/>
            </a:p>
          </p:txBody>
        </p:sp>
        <p:sp>
          <p:nvSpPr>
            <p:cNvPr id="2003" name="Mask 2003"/>
            <p:cNvSpPr/>
            <p:nvPr/>
          </p:nvSpPr>
          <p:spPr>
            <a:xfrm>
              <a:off x="9485926" y="2125969"/>
              <a:ext cx="978996" cy="255459"/>
            </a:xfrm>
            <a:prstGeom prst="rect">
              <a:avLst/>
            </a:prstGeom>
            <a:solidFill>
              <a:srgbClr val="FFFFFF"/>
            </a:solidFill>
            <a:ln>
              <a:noFill/>
            </a:ln>
          </p:spPr>
          <p:txBody>
            <a:bodyPr/>
            <a:lstStyle/>
            <a:p>
              <a:endParaRPr lang="en-US"/>
            </a:p>
          </p:txBody>
        </p:sp>
        <p:sp>
          <p:nvSpPr>
            <p:cNvPr id="2004" name="Mask 2004"/>
            <p:cNvSpPr/>
            <p:nvPr/>
          </p:nvSpPr>
          <p:spPr>
            <a:xfrm>
              <a:off x="9324179" y="2398458"/>
              <a:ext cx="915148" cy="489629"/>
            </a:xfrm>
            <a:prstGeom prst="rect">
              <a:avLst/>
            </a:prstGeom>
            <a:solidFill>
              <a:srgbClr val="FFFFFF"/>
            </a:solidFill>
            <a:ln>
              <a:noFill/>
            </a:ln>
          </p:spPr>
          <p:txBody>
            <a:bodyPr/>
            <a:lstStyle/>
            <a:p>
              <a:endParaRPr lang="en-US"/>
            </a:p>
          </p:txBody>
        </p:sp>
        <p:sp>
          <p:nvSpPr>
            <p:cNvPr id="2005" name="Mask 2005"/>
            <p:cNvSpPr/>
            <p:nvPr/>
          </p:nvSpPr>
          <p:spPr>
            <a:xfrm>
              <a:off x="10273379" y="3020074"/>
              <a:ext cx="830018" cy="251201"/>
            </a:xfrm>
            <a:prstGeom prst="rect">
              <a:avLst/>
            </a:prstGeom>
            <a:solidFill>
              <a:srgbClr val="FFFFFF"/>
            </a:solidFill>
            <a:ln>
              <a:noFill/>
            </a:ln>
          </p:spPr>
          <p:txBody>
            <a:bodyPr/>
            <a:lstStyle/>
            <a:p>
              <a:endParaRPr lang="en-US"/>
            </a:p>
          </p:txBody>
        </p:sp>
        <p:sp>
          <p:nvSpPr>
            <p:cNvPr id="2006" name="Mask 2006"/>
            <p:cNvSpPr/>
            <p:nvPr/>
          </p:nvSpPr>
          <p:spPr>
            <a:xfrm>
              <a:off x="10029155" y="3284048"/>
              <a:ext cx="1051356" cy="357642"/>
            </a:xfrm>
            <a:prstGeom prst="rect">
              <a:avLst/>
            </a:prstGeom>
            <a:solidFill>
              <a:srgbClr val="FFFFFF"/>
            </a:solidFill>
            <a:ln>
              <a:noFill/>
            </a:ln>
          </p:spPr>
          <p:txBody>
            <a:bodyPr/>
            <a:lstStyle/>
            <a:p>
              <a:endParaRPr lang="en-US"/>
            </a:p>
          </p:txBody>
        </p:sp>
        <p:sp>
          <p:nvSpPr>
            <p:cNvPr id="2007" name="Mask 2007"/>
            <p:cNvSpPr/>
            <p:nvPr/>
          </p:nvSpPr>
          <p:spPr>
            <a:xfrm>
              <a:off x="10103119" y="3641690"/>
              <a:ext cx="893865" cy="161790"/>
            </a:xfrm>
            <a:prstGeom prst="rect">
              <a:avLst/>
            </a:prstGeom>
            <a:solidFill>
              <a:srgbClr val="FFFFFF"/>
            </a:solidFill>
            <a:ln>
              <a:noFill/>
            </a:ln>
          </p:spPr>
          <p:txBody>
            <a:bodyPr/>
            <a:lstStyle/>
            <a:p>
              <a:endParaRPr lang="en-US"/>
            </a:p>
          </p:txBody>
        </p:sp>
        <p:sp>
          <p:nvSpPr>
            <p:cNvPr id="2008" name="Mask 2008"/>
            <p:cNvSpPr/>
            <p:nvPr/>
          </p:nvSpPr>
          <p:spPr>
            <a:xfrm>
              <a:off x="6685147" y="2994529"/>
              <a:ext cx="1234386" cy="255459"/>
            </a:xfrm>
            <a:prstGeom prst="rect">
              <a:avLst/>
            </a:prstGeom>
            <a:solidFill>
              <a:srgbClr val="FFFFFF"/>
            </a:solidFill>
            <a:ln>
              <a:noFill/>
            </a:ln>
          </p:spPr>
          <p:txBody>
            <a:bodyPr/>
            <a:lstStyle/>
            <a:p>
              <a:endParaRPr lang="en-US"/>
            </a:p>
          </p:txBody>
        </p:sp>
        <p:sp>
          <p:nvSpPr>
            <p:cNvPr id="2009" name="Mask 2009"/>
            <p:cNvSpPr/>
            <p:nvPr/>
          </p:nvSpPr>
          <p:spPr>
            <a:xfrm>
              <a:off x="7017154" y="3249987"/>
              <a:ext cx="1302490" cy="412991"/>
            </a:xfrm>
            <a:prstGeom prst="rect">
              <a:avLst/>
            </a:prstGeom>
            <a:solidFill>
              <a:srgbClr val="FFFFFF"/>
            </a:solidFill>
            <a:ln>
              <a:noFill/>
            </a:ln>
          </p:spPr>
          <p:txBody>
            <a:bodyPr/>
            <a:lstStyle/>
            <a:p>
              <a:endParaRPr lang="en-US"/>
            </a:p>
          </p:txBody>
        </p:sp>
        <p:sp>
          <p:nvSpPr>
            <p:cNvPr id="2010" name="Mask 2010"/>
            <p:cNvSpPr/>
            <p:nvPr/>
          </p:nvSpPr>
          <p:spPr>
            <a:xfrm>
              <a:off x="6778790" y="4220730"/>
              <a:ext cx="1106691" cy="246943"/>
            </a:xfrm>
            <a:prstGeom prst="rect">
              <a:avLst/>
            </a:prstGeom>
            <a:solidFill>
              <a:srgbClr val="FFFFFF"/>
            </a:solidFill>
            <a:ln>
              <a:noFill/>
            </a:ln>
          </p:spPr>
          <p:txBody>
            <a:bodyPr/>
            <a:lstStyle/>
            <a:p>
              <a:endParaRPr lang="en-US"/>
            </a:p>
          </p:txBody>
        </p:sp>
        <p:sp>
          <p:nvSpPr>
            <p:cNvPr id="2011" name="Mask 2011"/>
            <p:cNvSpPr/>
            <p:nvPr/>
          </p:nvSpPr>
          <p:spPr>
            <a:xfrm>
              <a:off x="6932024" y="4501734"/>
              <a:ext cx="1166282" cy="485371"/>
            </a:xfrm>
            <a:prstGeom prst="rect">
              <a:avLst/>
            </a:prstGeom>
            <a:solidFill>
              <a:srgbClr val="FFFFFF"/>
            </a:solidFill>
            <a:ln>
              <a:noFill/>
            </a:ln>
          </p:spPr>
          <p:txBody>
            <a:bodyPr/>
            <a:lstStyle/>
            <a:p>
              <a:endParaRPr lang="en-US"/>
            </a:p>
          </p:txBody>
        </p:sp>
        <p:sp>
          <p:nvSpPr>
            <p:cNvPr id="2012" name="Mask 2012"/>
            <p:cNvSpPr/>
            <p:nvPr/>
          </p:nvSpPr>
          <p:spPr>
            <a:xfrm>
              <a:off x="10277635" y="4254791"/>
              <a:ext cx="1081152" cy="306550"/>
            </a:xfrm>
            <a:prstGeom prst="rect">
              <a:avLst/>
            </a:prstGeom>
            <a:solidFill>
              <a:srgbClr val="FFFFFF"/>
            </a:solidFill>
            <a:ln>
              <a:noFill/>
            </a:ln>
          </p:spPr>
          <p:txBody>
            <a:bodyPr/>
            <a:lstStyle/>
            <a:p>
              <a:endParaRPr lang="en-US"/>
            </a:p>
          </p:txBody>
        </p:sp>
        <p:sp>
          <p:nvSpPr>
            <p:cNvPr id="2013" name="Mask 2013"/>
            <p:cNvSpPr/>
            <p:nvPr/>
          </p:nvSpPr>
          <p:spPr>
            <a:xfrm>
              <a:off x="10328713" y="4569857"/>
              <a:ext cx="1098178" cy="468341"/>
            </a:xfrm>
            <a:prstGeom prst="rect">
              <a:avLst/>
            </a:prstGeom>
            <a:solidFill>
              <a:srgbClr val="FFFFFF"/>
            </a:solidFill>
            <a:ln>
              <a:noFill/>
            </a:ln>
          </p:spPr>
          <p:txBody>
            <a:bodyPr/>
            <a:lstStyle/>
            <a:p>
              <a:endParaRPr lang="en-US"/>
            </a:p>
          </p:txBody>
        </p:sp>
        <p:sp>
          <p:nvSpPr>
            <p:cNvPr id="2014" name="Mask 2014"/>
            <p:cNvSpPr/>
            <p:nvPr/>
          </p:nvSpPr>
          <p:spPr>
            <a:xfrm>
              <a:off x="7391727" y="5327717"/>
              <a:ext cx="1140743" cy="212882"/>
            </a:xfrm>
            <a:prstGeom prst="rect">
              <a:avLst/>
            </a:prstGeom>
            <a:solidFill>
              <a:srgbClr val="FFFFFF"/>
            </a:solidFill>
            <a:ln>
              <a:noFill/>
            </a:ln>
          </p:spPr>
          <p:txBody>
            <a:bodyPr/>
            <a:lstStyle/>
            <a:p>
              <a:endParaRPr lang="en-US"/>
            </a:p>
          </p:txBody>
        </p:sp>
        <p:sp>
          <p:nvSpPr>
            <p:cNvPr id="2015" name="Mask 2015"/>
            <p:cNvSpPr/>
            <p:nvPr/>
          </p:nvSpPr>
          <p:spPr>
            <a:xfrm>
              <a:off x="7613065" y="5566145"/>
              <a:ext cx="893865" cy="383188"/>
            </a:xfrm>
            <a:prstGeom prst="rect">
              <a:avLst/>
            </a:prstGeom>
            <a:solidFill>
              <a:srgbClr val="FFFFFF"/>
            </a:solidFill>
            <a:ln>
              <a:noFill/>
            </a:ln>
          </p:spPr>
          <p:txBody>
            <a:bodyPr/>
            <a:lstStyle/>
            <a:p>
              <a:endParaRPr lang="en-US"/>
            </a:p>
          </p:txBody>
        </p:sp>
        <p:sp>
          <p:nvSpPr>
            <p:cNvPr id="2016" name="Mask 2016"/>
            <p:cNvSpPr/>
            <p:nvPr/>
          </p:nvSpPr>
          <p:spPr>
            <a:xfrm>
              <a:off x="9392283" y="5157412"/>
              <a:ext cx="1047100" cy="306550"/>
            </a:xfrm>
            <a:prstGeom prst="rect">
              <a:avLst/>
            </a:prstGeom>
            <a:solidFill>
              <a:srgbClr val="FFFFFF"/>
            </a:solidFill>
            <a:ln>
              <a:noFill/>
            </a:ln>
          </p:spPr>
          <p:txBody>
            <a:bodyPr/>
            <a:lstStyle/>
            <a:p>
              <a:endParaRPr lang="en-US"/>
            </a:p>
          </p:txBody>
        </p:sp>
        <p:sp>
          <p:nvSpPr>
            <p:cNvPr id="2017" name="Mask 2017"/>
            <p:cNvSpPr/>
            <p:nvPr/>
          </p:nvSpPr>
          <p:spPr>
            <a:xfrm>
              <a:off x="9439104" y="5489508"/>
              <a:ext cx="1136486" cy="502402"/>
            </a:xfrm>
            <a:prstGeom prst="rect">
              <a:avLst/>
            </a:prstGeom>
            <a:solidFill>
              <a:srgbClr val="FFFFFF"/>
            </a:solidFill>
            <a:ln>
              <a:noFill/>
            </a:ln>
          </p:spPr>
          <p:txBody>
            <a:bodyPr/>
            <a:lstStyle/>
            <a:p>
              <a:endParaRPr lang="en-US"/>
            </a:p>
          </p:txBody>
        </p:sp>
        <p:sp>
          <p:nvSpPr>
            <p:cNvPr id="2018" name="Mask 2018"/>
            <p:cNvSpPr/>
            <p:nvPr/>
          </p:nvSpPr>
          <p:spPr>
            <a:xfrm>
              <a:off x="8404774" y="3718328"/>
              <a:ext cx="1472750" cy="613101"/>
            </a:xfrm>
            <a:prstGeom prst="rect">
              <a:avLst/>
            </a:prstGeom>
            <a:solidFill>
              <a:srgbClr val="FFFFFF"/>
            </a:solidFill>
            <a:ln>
              <a:noFill/>
            </a:ln>
          </p:spPr>
          <p:txBody>
            <a:bodyPr/>
            <a:lstStyle/>
            <a:p>
              <a:endParaRPr lang="en-US"/>
            </a:p>
          </p:txBody>
        </p:sp>
        <p:sp>
          <p:nvSpPr>
            <p:cNvPr id="2019" name="EN Text 2019"/>
            <p:cNvSpPr txBox="1"/>
            <p:nvPr/>
          </p:nvSpPr>
          <p:spPr>
            <a:xfrm>
              <a:off x="7919533" y="2155773"/>
              <a:ext cx="1225873" cy="251201"/>
            </a:xfrm>
            <a:prstGeom prst="rect">
              <a:avLst/>
            </a:prstGeom>
            <a:noFill/>
          </p:spPr>
          <p:txBody>
            <a:bodyPr wrap="none" lIns="0" tIns="0" rIns="0" bIns="0" anchor="t">
              <a:noAutofit/>
            </a:bodyPr>
            <a:lstStyle/>
            <a:p>
              <a:pPr algn="l">
                <a:buNone/>
              </a:pPr>
              <a:r>
                <a:rPr lang="en-US" sz="2300" b="0" dirty="0">
                  <a:solidFill>
                    <a:srgbClr val="E31E24"/>
                  </a:solidFill>
                  <a:latin typeface="Bahnschrift SemiBold Condensed"/>
                </a:rPr>
                <a:t>CLARITY</a:t>
              </a:r>
            </a:p>
          </p:txBody>
        </p:sp>
        <p:sp>
          <p:nvSpPr>
            <p:cNvPr id="2020" name="EN Text 2020"/>
            <p:cNvSpPr txBox="1"/>
            <p:nvPr/>
          </p:nvSpPr>
          <p:spPr>
            <a:xfrm>
              <a:off x="8004663" y="2483611"/>
              <a:ext cx="1140743" cy="255459"/>
            </a:xfrm>
            <a:prstGeom prst="rect">
              <a:avLst/>
            </a:prstGeom>
            <a:noFill/>
          </p:spPr>
          <p:txBody>
            <a:bodyPr wrap="square" lIns="0" tIns="0" rIns="0" bIns="0" anchor="t">
              <a:noAutofit/>
            </a:bodyPr>
            <a:lstStyle/>
            <a:p>
              <a:pPr algn="l">
                <a:lnSpc>
                  <a:spcPts val="970"/>
                </a:lnSpc>
                <a:buNone/>
              </a:pPr>
              <a:r>
                <a:rPr lang="en-US" sz="850" b="0" dirty="0">
                  <a:solidFill>
                    <a:srgbClr val="1A1A1A"/>
                  </a:solidFill>
                  <a:latin typeface="Calibri"/>
                </a:rPr>
                <a:t>Keep your message simple.</a:t>
              </a:r>
            </a:p>
          </p:txBody>
        </p:sp>
        <p:sp>
          <p:nvSpPr>
            <p:cNvPr id="2028" name="EN Text 2028"/>
            <p:cNvSpPr txBox="1"/>
            <p:nvPr/>
          </p:nvSpPr>
          <p:spPr>
            <a:xfrm>
              <a:off x="6961820" y="4535796"/>
              <a:ext cx="1127973" cy="459826"/>
            </a:xfrm>
            <a:prstGeom prst="rect">
              <a:avLst/>
            </a:prstGeom>
            <a:noFill/>
          </p:spPr>
          <p:txBody>
            <a:bodyPr wrap="square" lIns="0" tIns="0" rIns="0" bIns="0" anchor="t">
              <a:noAutofit/>
            </a:bodyPr>
            <a:lstStyle/>
            <a:p>
              <a:pPr algn="l">
                <a:lnSpc>
                  <a:spcPts val="970"/>
                </a:lnSpc>
                <a:buNone/>
              </a:pPr>
              <a:r>
                <a:rPr lang="en-US" sz="850" b="0" dirty="0">
                  <a:solidFill>
                    <a:srgbClr val="1A1A1A"/>
                  </a:solidFill>
                  <a:latin typeface="Calibri"/>
                </a:rPr>
                <a:t>Explain the whole message; leaving it half-finished causes doubts.</a:t>
              </a:r>
            </a:p>
          </p:txBody>
        </p:sp>
        <p:sp>
          <p:nvSpPr>
            <p:cNvPr id="2021" name="EN Text 2021"/>
            <p:cNvSpPr txBox="1"/>
            <p:nvPr/>
          </p:nvSpPr>
          <p:spPr>
            <a:xfrm>
              <a:off x="9515721" y="2134484"/>
              <a:ext cx="991765" cy="246943"/>
            </a:xfrm>
            <a:prstGeom prst="rect">
              <a:avLst/>
            </a:prstGeom>
            <a:noFill/>
          </p:spPr>
          <p:txBody>
            <a:bodyPr wrap="none" lIns="0" tIns="0" rIns="0" bIns="0" anchor="t">
              <a:noAutofit/>
            </a:bodyPr>
            <a:lstStyle/>
            <a:p>
              <a:pPr algn="l">
                <a:buNone/>
              </a:pPr>
              <a:r>
                <a:rPr lang="en-US" sz="2300" b="0" dirty="0">
                  <a:solidFill>
                    <a:srgbClr val="FBC707"/>
                  </a:solidFill>
                  <a:latin typeface="Bahnschrift SemiBold Condensed"/>
                </a:rPr>
                <a:t>CONCISE</a:t>
              </a:r>
            </a:p>
          </p:txBody>
        </p:sp>
        <p:sp>
          <p:nvSpPr>
            <p:cNvPr id="2022" name="EN Text 2022"/>
            <p:cNvSpPr txBox="1"/>
            <p:nvPr/>
          </p:nvSpPr>
          <p:spPr>
            <a:xfrm>
              <a:off x="9345461" y="2424004"/>
              <a:ext cx="885352" cy="485371"/>
            </a:xfrm>
            <a:prstGeom prst="rect">
              <a:avLst/>
            </a:prstGeom>
            <a:noFill/>
          </p:spPr>
          <p:txBody>
            <a:bodyPr wrap="square" lIns="0" tIns="0" rIns="0" bIns="0" anchor="t">
              <a:noAutofit/>
            </a:bodyPr>
            <a:lstStyle/>
            <a:p>
              <a:pPr algn="l">
                <a:lnSpc>
                  <a:spcPts val="970"/>
                </a:lnSpc>
                <a:buNone/>
              </a:pPr>
              <a:r>
                <a:rPr lang="en-US" sz="850" b="0" dirty="0">
                  <a:solidFill>
                    <a:srgbClr val="1A1A1A"/>
                  </a:solidFill>
                  <a:latin typeface="Calibri"/>
                </a:rPr>
                <a:t>...and precise. The fewer words you use to explain, the better.</a:t>
              </a:r>
            </a:p>
          </p:txBody>
        </p:sp>
        <p:sp>
          <p:nvSpPr>
            <p:cNvPr id="2023" name="EN Text 2023"/>
            <p:cNvSpPr txBox="1"/>
            <p:nvPr/>
          </p:nvSpPr>
          <p:spPr>
            <a:xfrm>
              <a:off x="10303174" y="3028590"/>
              <a:ext cx="800222" cy="242686"/>
            </a:xfrm>
            <a:prstGeom prst="rect">
              <a:avLst/>
            </a:prstGeom>
            <a:noFill/>
          </p:spPr>
          <p:txBody>
            <a:bodyPr wrap="none" lIns="0" tIns="0" rIns="0" bIns="0" anchor="t">
              <a:noAutofit/>
            </a:bodyPr>
            <a:lstStyle/>
            <a:p>
              <a:pPr algn="l">
                <a:buNone/>
              </a:pPr>
              <a:r>
                <a:rPr lang="en-US" sz="2300" b="0" dirty="0">
                  <a:solidFill>
                    <a:srgbClr val="1E96DC"/>
                  </a:solidFill>
                  <a:latin typeface="Bahnschrift SemiBold Condensed"/>
                </a:rPr>
                <a:t>CORRECT</a:t>
              </a:r>
            </a:p>
          </p:txBody>
        </p:sp>
        <p:sp>
          <p:nvSpPr>
            <p:cNvPr id="2024" name="EN Text 2024"/>
            <p:cNvSpPr txBox="1"/>
            <p:nvPr/>
          </p:nvSpPr>
          <p:spPr>
            <a:xfrm>
              <a:off x="10112742" y="3309594"/>
              <a:ext cx="851300" cy="493887"/>
            </a:xfrm>
            <a:prstGeom prst="rect">
              <a:avLst/>
            </a:prstGeom>
            <a:noFill/>
          </p:spPr>
          <p:txBody>
            <a:bodyPr wrap="square" lIns="0" tIns="0" rIns="0" bIns="0" anchor="t">
              <a:noAutofit/>
            </a:bodyPr>
            <a:lstStyle/>
            <a:p>
              <a:pPr algn="l">
                <a:lnSpc>
                  <a:spcPts val="970"/>
                </a:lnSpc>
                <a:buNone/>
              </a:pPr>
              <a:r>
                <a:rPr lang="en-US" sz="850" b="0" dirty="0">
                  <a:solidFill>
                    <a:srgbClr val="1A1A1A"/>
                  </a:solidFill>
                  <a:latin typeface="Calibri"/>
                </a:rPr>
                <a:t>Always speak and write correctly. No stammering or spelling mistakes.</a:t>
              </a:r>
            </a:p>
          </p:txBody>
        </p:sp>
        <p:sp>
          <p:nvSpPr>
            <p:cNvPr id="2025" name="EN Text 2025"/>
            <p:cNvSpPr txBox="1"/>
            <p:nvPr/>
          </p:nvSpPr>
          <p:spPr>
            <a:xfrm>
              <a:off x="6706430" y="3007301"/>
              <a:ext cx="1247155" cy="242686"/>
            </a:xfrm>
            <a:prstGeom prst="rect">
              <a:avLst/>
            </a:prstGeom>
            <a:noFill/>
          </p:spPr>
          <p:txBody>
            <a:bodyPr wrap="none" lIns="0" tIns="0" rIns="0" bIns="0" anchor="t">
              <a:noAutofit/>
            </a:bodyPr>
            <a:lstStyle/>
            <a:p>
              <a:pPr algn="l">
                <a:buNone/>
              </a:pPr>
              <a:r>
                <a:rPr lang="en-US" sz="2300" b="0" dirty="0">
                  <a:solidFill>
                    <a:srgbClr val="F7941D"/>
                  </a:solidFill>
                  <a:latin typeface="Bahnschrift SemiBold Condensed"/>
                </a:rPr>
                <a:t>CONSULT</a:t>
              </a:r>
            </a:p>
          </p:txBody>
        </p:sp>
        <p:sp>
          <p:nvSpPr>
            <p:cNvPr id="2026" name="EN Text 2026"/>
            <p:cNvSpPr txBox="1"/>
            <p:nvPr/>
          </p:nvSpPr>
          <p:spPr>
            <a:xfrm>
              <a:off x="7046950" y="3271275"/>
              <a:ext cx="1264181" cy="404476"/>
            </a:xfrm>
            <a:prstGeom prst="rect">
              <a:avLst/>
            </a:prstGeom>
            <a:noFill/>
          </p:spPr>
          <p:txBody>
            <a:bodyPr wrap="square" lIns="0" tIns="0" rIns="0" bIns="0" anchor="t">
              <a:noAutofit/>
            </a:bodyPr>
            <a:lstStyle/>
            <a:p>
              <a:pPr algn="l">
                <a:lnSpc>
                  <a:spcPts val="800"/>
                </a:lnSpc>
                <a:buNone/>
              </a:pPr>
              <a:r>
                <a:rPr lang="en-US" sz="680" b="0" dirty="0">
                  <a:solidFill>
                    <a:srgbClr val="1A1A1A"/>
                  </a:solidFill>
                  <a:latin typeface="Calibri"/>
                </a:rPr>
                <a:t>Check legitimate sources before sharing anything false. Ask for help phrasing things so they are not misread.</a:t>
              </a:r>
            </a:p>
          </p:txBody>
        </p:sp>
        <p:sp>
          <p:nvSpPr>
            <p:cNvPr id="2027" name="EN Text 2027"/>
            <p:cNvSpPr txBox="1"/>
            <p:nvPr/>
          </p:nvSpPr>
          <p:spPr>
            <a:xfrm>
              <a:off x="6804329" y="4229245"/>
              <a:ext cx="1149256" cy="238428"/>
            </a:xfrm>
            <a:prstGeom prst="rect">
              <a:avLst/>
            </a:prstGeom>
            <a:noFill/>
          </p:spPr>
          <p:txBody>
            <a:bodyPr wrap="none" lIns="0" tIns="0" rIns="0" bIns="0" anchor="t">
              <a:noAutofit/>
            </a:bodyPr>
            <a:lstStyle/>
            <a:p>
              <a:pPr algn="l">
                <a:buNone/>
              </a:pPr>
              <a:r>
                <a:rPr lang="en-US" sz="2300" b="0" dirty="0">
                  <a:solidFill>
                    <a:srgbClr val="9E1F4F"/>
                  </a:solidFill>
                  <a:latin typeface="Bahnschrift SemiBold Condensed"/>
                </a:rPr>
                <a:t>COMPLETE</a:t>
              </a:r>
            </a:p>
          </p:txBody>
        </p:sp>
        <p:sp>
          <p:nvSpPr>
            <p:cNvPr id="2029" name="EN Text 2029"/>
            <p:cNvSpPr txBox="1"/>
            <p:nvPr/>
          </p:nvSpPr>
          <p:spPr>
            <a:xfrm>
              <a:off x="10303174" y="4305883"/>
              <a:ext cx="1098178" cy="255459"/>
            </a:xfrm>
            <a:prstGeom prst="rect">
              <a:avLst/>
            </a:prstGeom>
            <a:noFill/>
          </p:spPr>
          <p:txBody>
            <a:bodyPr wrap="none" lIns="0" tIns="0" rIns="0" bIns="0" anchor="t">
              <a:noAutofit/>
            </a:bodyPr>
            <a:lstStyle/>
            <a:p>
              <a:pPr algn="l">
                <a:buNone/>
              </a:pPr>
              <a:r>
                <a:rPr lang="en-US" sz="2300" b="0" dirty="0">
                  <a:solidFill>
                    <a:srgbClr val="C534B9"/>
                  </a:solidFill>
                  <a:latin typeface="Bahnschrift SemiBold Condensed"/>
                </a:rPr>
                <a:t>COMPANY</a:t>
              </a:r>
            </a:p>
          </p:txBody>
        </p:sp>
        <p:sp>
          <p:nvSpPr>
            <p:cNvPr id="2030" name="EN Text 2030"/>
            <p:cNvSpPr txBox="1"/>
            <p:nvPr/>
          </p:nvSpPr>
          <p:spPr>
            <a:xfrm>
              <a:off x="10358509" y="4595403"/>
              <a:ext cx="1051356" cy="464083"/>
            </a:xfrm>
            <a:prstGeom prst="rect">
              <a:avLst/>
            </a:prstGeom>
            <a:noFill/>
          </p:spPr>
          <p:txBody>
            <a:bodyPr wrap="square" lIns="0" tIns="0" rIns="0" bIns="0" anchor="t">
              <a:noAutofit/>
            </a:bodyPr>
            <a:lstStyle/>
            <a:p>
              <a:pPr algn="l">
                <a:lnSpc>
                  <a:spcPts val="970"/>
                </a:lnSpc>
                <a:buNone/>
              </a:pPr>
              <a:r>
                <a:rPr lang="en-US" sz="850" b="0" dirty="0">
                  <a:solidFill>
                    <a:srgbClr val="1A1A1A"/>
                  </a:solidFill>
                  <a:latin typeface="Calibri"/>
                </a:rPr>
                <a:t>Your way of expressing yourself should reflect your company's values.</a:t>
              </a:r>
            </a:p>
          </p:txBody>
        </p:sp>
        <p:sp>
          <p:nvSpPr>
            <p:cNvPr id="2031" name="EN Text 2031"/>
            <p:cNvSpPr txBox="1"/>
            <p:nvPr/>
          </p:nvSpPr>
          <p:spPr>
            <a:xfrm>
              <a:off x="7417266" y="5193237"/>
              <a:ext cx="1132230" cy="212882"/>
            </a:xfrm>
            <a:prstGeom prst="rect">
              <a:avLst/>
            </a:prstGeom>
            <a:noFill/>
          </p:spPr>
          <p:txBody>
            <a:bodyPr wrap="none" lIns="0" tIns="0" rIns="0" bIns="0" anchor="t">
              <a:noAutofit/>
            </a:bodyPr>
            <a:lstStyle/>
            <a:p>
              <a:pPr algn="l">
                <a:buNone/>
              </a:pPr>
              <a:r>
                <a:rPr lang="en-US" sz="2300" b="0" dirty="0">
                  <a:solidFill>
                    <a:srgbClr val="A8C61A"/>
                  </a:solidFill>
                  <a:latin typeface="Bahnschrift SemiBold Condensed"/>
                </a:rPr>
                <a:t>CONCRETE</a:t>
              </a:r>
            </a:p>
          </p:txBody>
        </p:sp>
        <p:sp>
          <p:nvSpPr>
            <p:cNvPr id="2032" name="EN Text 2032"/>
            <p:cNvSpPr txBox="1"/>
            <p:nvPr/>
          </p:nvSpPr>
          <p:spPr>
            <a:xfrm>
              <a:off x="7655630" y="5600207"/>
              <a:ext cx="842787" cy="374673"/>
            </a:xfrm>
            <a:prstGeom prst="rect">
              <a:avLst/>
            </a:prstGeom>
            <a:noFill/>
          </p:spPr>
          <p:txBody>
            <a:bodyPr wrap="square" lIns="0" tIns="0" rIns="0" bIns="0" anchor="t">
              <a:noAutofit/>
            </a:bodyPr>
            <a:lstStyle/>
            <a:p>
              <a:pPr algn="l">
                <a:lnSpc>
                  <a:spcPts val="970"/>
                </a:lnSpc>
                <a:buNone/>
              </a:pPr>
              <a:r>
                <a:rPr lang="en-US" sz="850" b="0" dirty="0">
                  <a:solidFill>
                    <a:srgbClr val="1A1A1A"/>
                  </a:solidFill>
                  <a:latin typeface="Calibri"/>
                </a:rPr>
                <a:t>Be specific without drifting into other details.</a:t>
              </a:r>
            </a:p>
          </p:txBody>
        </p:sp>
        <p:sp>
          <p:nvSpPr>
            <p:cNvPr id="2033" name="EN Text 2033"/>
            <p:cNvSpPr txBox="1"/>
            <p:nvPr/>
          </p:nvSpPr>
          <p:spPr>
            <a:xfrm>
              <a:off x="9368286" y="5208503"/>
              <a:ext cx="1085408" cy="255459"/>
            </a:xfrm>
            <a:prstGeom prst="rect">
              <a:avLst/>
            </a:prstGeom>
            <a:noFill/>
          </p:spPr>
          <p:txBody>
            <a:bodyPr wrap="none" lIns="0" tIns="0" rIns="0" bIns="0" anchor="t">
              <a:noAutofit/>
            </a:bodyPr>
            <a:lstStyle/>
            <a:p>
              <a:pPr algn="l">
                <a:buNone/>
              </a:pPr>
              <a:r>
                <a:rPr lang="en-US" sz="2300" b="0" dirty="0">
                  <a:solidFill>
                    <a:srgbClr val="1C3FB5"/>
                  </a:solidFill>
                  <a:latin typeface="Bahnschrift SemiBold Condensed"/>
                </a:rPr>
                <a:t>COURTESY</a:t>
              </a:r>
            </a:p>
          </p:txBody>
        </p:sp>
        <p:sp>
          <p:nvSpPr>
            <p:cNvPr id="2034" name="EN Text 2034"/>
            <p:cNvSpPr txBox="1"/>
            <p:nvPr/>
          </p:nvSpPr>
          <p:spPr>
            <a:xfrm>
              <a:off x="9473156" y="5523569"/>
              <a:ext cx="1093921" cy="485371"/>
            </a:xfrm>
            <a:prstGeom prst="rect">
              <a:avLst/>
            </a:prstGeom>
            <a:noFill/>
          </p:spPr>
          <p:txBody>
            <a:bodyPr wrap="square" lIns="0" tIns="0" rIns="0" bIns="0" anchor="t">
              <a:noAutofit/>
            </a:bodyPr>
            <a:lstStyle/>
            <a:p>
              <a:pPr algn="l">
                <a:lnSpc>
                  <a:spcPts val="970"/>
                </a:lnSpc>
                <a:buNone/>
              </a:pPr>
              <a:r>
                <a:rPr lang="en-US" sz="850" b="0" dirty="0">
                  <a:solidFill>
                    <a:srgbClr val="1A1A1A"/>
                  </a:solidFill>
                  <a:latin typeface="Calibri"/>
                </a:rPr>
                <a:t>Be respectful in how you express yourself and elegant in the vocabulary you use.</a:t>
              </a:r>
            </a:p>
          </p:txBody>
        </p:sp>
        <p:sp>
          <p:nvSpPr>
            <p:cNvPr id="2035" name="EN Text 2035"/>
            <p:cNvSpPr txBox="1"/>
            <p:nvPr/>
          </p:nvSpPr>
          <p:spPr>
            <a:xfrm>
              <a:off x="8251540" y="3782193"/>
              <a:ext cx="1787731" cy="553494"/>
            </a:xfrm>
            <a:prstGeom prst="rect">
              <a:avLst/>
            </a:prstGeom>
            <a:noFill/>
          </p:spPr>
          <p:txBody>
            <a:bodyPr wrap="none" lIns="0" tIns="0" rIns="0" bIns="0" anchor="t">
              <a:noAutofit/>
            </a:bodyPr>
            <a:lstStyle/>
            <a:p>
              <a:pPr algn="ctr">
                <a:lnSpc>
                  <a:spcPts val="2900"/>
                </a:lnSpc>
                <a:buNone/>
              </a:pPr>
              <a:r>
                <a:rPr lang="en-US" sz="2300" b="0" dirty="0">
                  <a:solidFill>
                    <a:srgbClr val="1A1A1A"/>
                  </a:solidFill>
                  <a:latin typeface="Bahnschrift SemiBold Condensed"/>
                </a:rPr>
                <a:t>EFFECTIVE</a:t>
              </a:r>
            </a:p>
            <a:p>
              <a:pPr algn="ctr">
                <a:lnSpc>
                  <a:spcPts val="2900"/>
                </a:lnSpc>
                <a:buNone/>
              </a:pPr>
              <a:r>
                <a:rPr lang="en-US" sz="2300" b="0" dirty="0">
                  <a:solidFill>
                    <a:srgbClr val="1A1A1A"/>
                  </a:solidFill>
                  <a:latin typeface="Bahnschrift SemiBold Condensed"/>
                </a:rPr>
                <a:t>COMMUNICATION</a:t>
              </a:r>
            </a:p>
          </p:txBody>
        </p:sp>
      </p:grpSp>
      <p:sp>
        <p:nvSpPr>
          <p:cNvPr id="8" name="CuadroTexto 7">
            <a:extLst>
              <a:ext uri="{FF2B5EF4-FFF2-40B4-BE49-F238E27FC236}">
                <a16:creationId xmlns:a16="http://schemas.microsoft.com/office/drawing/2014/main" id="{3563EF12-756D-4540-9056-EE85125070CC}"/>
              </a:ext>
            </a:extLst>
          </p:cNvPr>
          <p:cNvSpPr txBox="1"/>
          <p:nvPr/>
        </p:nvSpPr>
        <p:spPr>
          <a:xfrm>
            <a:off x="923518" y="2669831"/>
            <a:ext cx="5582240" cy="3389261"/>
          </a:xfrm>
          <a:prstGeom prst="rect">
            <a:avLst/>
          </a:prstGeom>
          <a:noFill/>
        </p:spPr>
        <p:txBody>
          <a:bodyPr wrap="square">
            <a:spAutoFit/>
          </a:bodyPr>
          <a:lstStyle/>
          <a:p>
            <a:pPr marL="285750" indent="-285750">
              <a:lnSpc>
                <a:spcPct val="107000"/>
              </a:lnSpc>
              <a:spcAft>
                <a:spcPts val="800"/>
              </a:spcAft>
              <a:buFont typeface="Arial" panose="020B0604020202020204" pitchFamily="34" charset="0"/>
              <a:buChar char="•"/>
            </a:pPr>
            <a:r>
              <a:rPr lang="en-US" sz="2000" dirty="0">
                <a:effectLst/>
                <a:latin typeface="Century Gothic" panose="020B0502020202020204" pitchFamily="34" charset="0"/>
                <a:ea typeface="Calibri" panose="020F0502020204030204" pitchFamily="34" charset="0"/>
                <a:cs typeface="Times New Roman" panose="02020603050405020304" pitchFamily="18" charset="0"/>
              </a:rPr>
              <a:t>Clarity</a:t>
            </a:r>
          </a:p>
          <a:p>
            <a:pPr marL="285750" indent="-285750">
              <a:lnSpc>
                <a:spcPct val="107000"/>
              </a:lnSpc>
              <a:spcAft>
                <a:spcPts val="800"/>
              </a:spcAft>
              <a:buFont typeface="Arial" panose="020B0604020202020204" pitchFamily="34" charset="0"/>
              <a:buChar char="•"/>
            </a:pPr>
            <a:r>
              <a:rPr lang="en-US" sz="2000" dirty="0">
                <a:effectLst/>
                <a:latin typeface="Century Gothic" panose="020B0502020202020204" pitchFamily="34" charset="0"/>
                <a:ea typeface="Calibri" panose="020F0502020204030204" pitchFamily="34" charset="0"/>
                <a:cs typeface="Times New Roman" panose="02020603050405020304" pitchFamily="18" charset="0"/>
              </a:rPr>
              <a:t>Concise</a:t>
            </a:r>
          </a:p>
          <a:p>
            <a:pPr marL="285750" indent="-285750">
              <a:lnSpc>
                <a:spcPct val="107000"/>
              </a:lnSpc>
              <a:spcAft>
                <a:spcPts val="800"/>
              </a:spcAft>
              <a:buFont typeface="Arial" panose="020B0604020202020204" pitchFamily="34" charset="0"/>
              <a:buChar char="•"/>
            </a:pPr>
            <a:r>
              <a:rPr lang="en-US" sz="2000" dirty="0">
                <a:latin typeface="Century Gothic" panose="020B0502020202020204" pitchFamily="34" charset="0"/>
                <a:ea typeface="Calibri" panose="020F0502020204030204" pitchFamily="34" charset="0"/>
                <a:cs typeface="Times New Roman" panose="02020603050405020304" pitchFamily="18" charset="0"/>
              </a:rPr>
              <a:t>Inquisitive</a:t>
            </a:r>
          </a:p>
          <a:p>
            <a:pPr marL="285750" indent="-285750">
              <a:lnSpc>
                <a:spcPct val="107000"/>
              </a:lnSpc>
              <a:spcAft>
                <a:spcPts val="800"/>
              </a:spcAft>
              <a:buFont typeface="Arial" panose="020B0604020202020204" pitchFamily="34" charset="0"/>
              <a:buChar char="•"/>
            </a:pPr>
            <a:r>
              <a:rPr lang="en-US" sz="2000" dirty="0">
                <a:latin typeface="Century Gothic" panose="020B0502020202020204" pitchFamily="34" charset="0"/>
                <a:ea typeface="Calibri" panose="020F0502020204030204" pitchFamily="34" charset="0"/>
                <a:cs typeface="Times New Roman" panose="02020603050405020304" pitchFamily="18" charset="0"/>
              </a:rPr>
              <a:t>Correct</a:t>
            </a:r>
          </a:p>
          <a:p>
            <a:pPr marL="285750" indent="-285750">
              <a:lnSpc>
                <a:spcPct val="107000"/>
              </a:lnSpc>
              <a:spcAft>
                <a:spcPts val="800"/>
              </a:spcAft>
              <a:buFont typeface="Arial" panose="020B0604020202020204" pitchFamily="34" charset="0"/>
              <a:buChar char="•"/>
            </a:pPr>
            <a:r>
              <a:rPr lang="en-US" sz="2000" dirty="0">
                <a:effectLst/>
                <a:latin typeface="Century Gothic" panose="020B0502020202020204" pitchFamily="34" charset="0"/>
                <a:ea typeface="Calibri" panose="020F0502020204030204" pitchFamily="34" charset="0"/>
                <a:cs typeface="Times New Roman" panose="02020603050405020304" pitchFamily="18" charset="0"/>
              </a:rPr>
              <a:t>Complete</a:t>
            </a:r>
          </a:p>
          <a:p>
            <a:pPr marL="285750" indent="-285750">
              <a:lnSpc>
                <a:spcPct val="107000"/>
              </a:lnSpc>
              <a:spcAft>
                <a:spcPts val="800"/>
              </a:spcAft>
              <a:buFont typeface="Arial" panose="020B0604020202020204" pitchFamily="34" charset="0"/>
              <a:buChar char="•"/>
            </a:pPr>
            <a:r>
              <a:rPr lang="en-US" sz="2000" dirty="0">
                <a:latin typeface="Century Gothic" panose="020B0502020202020204" pitchFamily="34" charset="0"/>
                <a:ea typeface="Calibri" panose="020F0502020204030204" pitchFamily="34" charset="0"/>
                <a:cs typeface="Times New Roman" panose="02020603050405020304" pitchFamily="18" charset="0"/>
              </a:rPr>
              <a:t>Empathetic</a:t>
            </a:r>
          </a:p>
          <a:p>
            <a:pPr marL="285750" indent="-285750">
              <a:lnSpc>
                <a:spcPct val="107000"/>
              </a:lnSpc>
              <a:spcAft>
                <a:spcPts val="800"/>
              </a:spcAft>
              <a:buFont typeface="Arial" panose="020B0604020202020204" pitchFamily="34" charset="0"/>
              <a:buChar char="•"/>
            </a:pPr>
            <a:r>
              <a:rPr lang="en-US" sz="2000" dirty="0">
                <a:latin typeface="Century Gothic" panose="020B0502020202020204" pitchFamily="34" charset="0"/>
                <a:ea typeface="Calibri" panose="020F0502020204030204" pitchFamily="34" charset="0"/>
                <a:cs typeface="Times New Roman" panose="02020603050405020304" pitchFamily="18" charset="0"/>
              </a:rPr>
              <a:t>Concrete</a:t>
            </a:r>
            <a:endParaRPr lang="en-US" sz="2000" dirty="0">
              <a:effectLst/>
              <a:latin typeface="Century Gothic" panose="020B050202020202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Arial" panose="020B0604020202020204" pitchFamily="34" charset="0"/>
              <a:buChar char="•"/>
            </a:pPr>
            <a:r>
              <a:rPr lang="en-US" sz="2000" dirty="0">
                <a:effectLst/>
                <a:latin typeface="Century Gothic" panose="020B0502020202020204" pitchFamily="34" charset="0"/>
                <a:ea typeface="Calibri" panose="020F0502020204030204" pitchFamily="34" charset="0"/>
                <a:cs typeface="Times New Roman" panose="02020603050405020304" pitchFamily="18" charset="0"/>
              </a:rPr>
              <a:t>Coherence</a:t>
            </a:r>
          </a:p>
        </p:txBody>
      </p:sp>
      <p:sp>
        <p:nvSpPr>
          <p:cNvPr id="9" name="1 Marcador de texto">
            <a:extLst>
              <a:ext uri="{FF2B5EF4-FFF2-40B4-BE49-F238E27FC236}">
                <a16:creationId xmlns:a16="http://schemas.microsoft.com/office/drawing/2014/main" id="{44EF84C5-284A-47F5-AB64-F762ECC79E4E}"/>
              </a:ext>
            </a:extLst>
          </p:cNvPr>
          <p:cNvSpPr>
            <a:spLocks noGrp="1"/>
          </p:cNvSpPr>
          <p:nvPr>
            <p:ph type="body" idx="1"/>
          </p:nvPr>
        </p:nvSpPr>
        <p:spPr>
          <a:xfrm>
            <a:off x="585415" y="1215189"/>
            <a:ext cx="6258446" cy="1061286"/>
          </a:xfrm>
        </p:spPr>
        <p:txBody>
          <a:bodyPr>
            <a:normAutofit fontScale="92500" lnSpcReduction="10000"/>
          </a:bodyPr>
          <a:lstStyle/>
          <a:p>
            <a:pPr algn="ctr"/>
            <a:r>
              <a:rPr lang="en-US" sz="4000" dirty="0">
                <a:effectLst/>
                <a:latin typeface="Century Gothic" panose="020B0502020202020204" pitchFamily="34" charset="0"/>
                <a:ea typeface="Calibri" panose="020F0502020204030204" pitchFamily="34" charset="0"/>
                <a:cs typeface="Arial" panose="020B0604020202020204" pitchFamily="34" charset="0"/>
              </a:rPr>
              <a:t>Key Elements of Effective Communication</a:t>
            </a:r>
          </a:p>
        </p:txBody>
      </p:sp>
    </p:spTree>
    <p:extLst>
      <p:ext uri="{BB962C8B-B14F-4D97-AF65-F5344CB8AC3E}">
        <p14:creationId xmlns:p14="http://schemas.microsoft.com/office/powerpoint/2010/main" val="692721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idx="1"/>
          </p:nvPr>
        </p:nvSpPr>
        <p:spPr/>
        <p:txBody>
          <a:bodyPr>
            <a:normAutofit/>
          </a:bodyPr>
          <a:lstStyle/>
          <a:p>
            <a:r>
              <a:rPr lang="en-US" sz="3000" b="1" kern="0" dirty="0">
                <a:effectLst/>
                <a:latin typeface="Century Gothic" panose="020B0502020202020204" pitchFamily="34" charset="0"/>
                <a:ea typeface="Times New Roman" panose="02020603050405020304" pitchFamily="18" charset="0"/>
                <a:cs typeface="Times New Roman" panose="02020603050405020304" pitchFamily="18" charset="0"/>
              </a:rPr>
              <a:t>Importance of Communication in Health Management</a:t>
            </a:r>
            <a:endParaRPr lang="en-US" sz="3000"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5" name="4 Título"/>
          <p:cNvSpPr>
            <a:spLocks noGrp="1"/>
          </p:cNvSpPr>
          <p:nvPr>
            <p:ph type="title"/>
          </p:nvPr>
        </p:nvSpPr>
        <p:spPr/>
        <p:txBody>
          <a:bodyPr/>
          <a:lstStyle/>
          <a:p>
            <a:r>
              <a:rPr lang="en-US" dirty="0"/>
              <a:t>Decision-Making and Strategic Communication in Health</a:t>
            </a:r>
          </a:p>
        </p:txBody>
      </p:sp>
      <p:sp>
        <p:nvSpPr>
          <p:cNvPr id="9" name="2 Marcador de contenido">
            <a:extLst>
              <a:ext uri="{FF2B5EF4-FFF2-40B4-BE49-F238E27FC236}">
                <a16:creationId xmlns:a16="http://schemas.microsoft.com/office/drawing/2014/main" id="{0F2461BB-63E7-EA7A-7A36-E84914CA590F}"/>
              </a:ext>
            </a:extLst>
          </p:cNvPr>
          <p:cNvSpPr>
            <a:spLocks noGrp="1"/>
          </p:cNvSpPr>
          <p:nvPr>
            <p:ph sz="half" idx="2"/>
          </p:nvPr>
        </p:nvSpPr>
        <p:spPr>
          <a:xfrm>
            <a:off x="5364321" y="2914568"/>
            <a:ext cx="6174088" cy="4320503"/>
          </a:xfrm>
        </p:spPr>
        <p:txBody>
          <a:bodyPr>
            <a:noAutofit/>
          </a:bodyPr>
          <a:lstStyle/>
          <a:p>
            <a:pPr marL="0" lvl="0" indent="0" algn="just">
              <a:buNone/>
              <a:tabLst>
                <a:tab pos="457200" algn="l"/>
              </a:tabLst>
            </a:pP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Effective communication in health management is crucial. It enables better coordination between teams, improves relationships with patients and increases operational efficiency. Poor communication can lead to medical errors, patient dissatisfaction and coordination problems.</a:t>
            </a:r>
            <a:endParaRPr lang="en-US" sz="1900"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pic>
        <p:nvPicPr>
          <p:cNvPr id="2050" name="Picture 2" descr="Desglose de la comunicación | Los Institutos Nacionales de Salud">
            <a:extLst>
              <a:ext uri="{FF2B5EF4-FFF2-40B4-BE49-F238E27FC236}">
                <a16:creationId xmlns:a16="http://schemas.microsoft.com/office/drawing/2014/main" id="{30EBE13A-D176-4B2D-BDB5-01E392805B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793" y="2731415"/>
            <a:ext cx="3424238" cy="3343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5984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idx="1"/>
          </p:nvPr>
        </p:nvSpPr>
        <p:spPr/>
        <p:txBody>
          <a:bodyPr>
            <a:normAutofit/>
          </a:bodyPr>
          <a:lstStyle/>
          <a:p>
            <a:r>
              <a:rPr lang="en-US" sz="4000" b="1" kern="0" dirty="0">
                <a:effectLst/>
                <a:latin typeface="Century Gothic" panose="020B0502020202020204" pitchFamily="34" charset="0"/>
                <a:ea typeface="Times New Roman" panose="02020603050405020304" pitchFamily="18" charset="0"/>
                <a:cs typeface="Times New Roman" panose="02020603050405020304" pitchFamily="18" charset="0"/>
              </a:rPr>
              <a:t>Active Listening </a:t>
            </a:r>
            <a:endParaRPr lang="en-US" sz="4000"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5" name="4 Título"/>
          <p:cNvSpPr>
            <a:spLocks noGrp="1"/>
          </p:cNvSpPr>
          <p:nvPr>
            <p:ph type="title"/>
          </p:nvPr>
        </p:nvSpPr>
        <p:spPr/>
        <p:txBody>
          <a:bodyPr/>
          <a:lstStyle/>
          <a:p>
            <a:r>
              <a:rPr lang="en-US" dirty="0"/>
              <a:t>Decision-Making and Strategic Communication in Health</a:t>
            </a:r>
          </a:p>
        </p:txBody>
      </p:sp>
      <p:sp>
        <p:nvSpPr>
          <p:cNvPr id="9" name="2 Marcador de contenido">
            <a:extLst>
              <a:ext uri="{FF2B5EF4-FFF2-40B4-BE49-F238E27FC236}">
                <a16:creationId xmlns:a16="http://schemas.microsoft.com/office/drawing/2014/main" id="{0F2461BB-63E7-EA7A-7A36-E84914CA590F}"/>
              </a:ext>
            </a:extLst>
          </p:cNvPr>
          <p:cNvSpPr>
            <a:spLocks noGrp="1"/>
          </p:cNvSpPr>
          <p:nvPr>
            <p:ph sz="half" idx="2"/>
          </p:nvPr>
        </p:nvSpPr>
        <p:spPr>
          <a:xfrm>
            <a:off x="-103695" y="2508855"/>
            <a:ext cx="6665329" cy="4145341"/>
          </a:xfrm>
        </p:spPr>
        <p:txBody>
          <a:bodyPr>
            <a:noAutofit/>
          </a:bodyPr>
          <a:lstStyle/>
          <a:p>
            <a:pPr marL="457200" lvl="1" indent="0" algn="just">
              <a:buNone/>
            </a:pPr>
            <a:r>
              <a:rPr lang="en-US" sz="1900" dirty="0">
                <a:latin typeface="Century Gothic" panose="020B0502020202020204" pitchFamily="34" charset="0"/>
              </a:rPr>
              <a:t>Active listening is a fundamental part of effective communication. Listening actively means paying full attention and showing genuine interest in what the other person is saying.</a:t>
            </a:r>
          </a:p>
          <a:p>
            <a:pPr marL="457200" lvl="1" indent="0" algn="just">
              <a:buNone/>
            </a:pPr>
            <a:endParaRPr lang="en-US" sz="1900" dirty="0">
              <a:latin typeface="Century Gothic" panose="020B0502020202020204" pitchFamily="34" charset="0"/>
            </a:endParaRPr>
          </a:p>
          <a:p>
            <a:pPr marL="457200" lvl="1" indent="0" algn="just">
              <a:buNone/>
            </a:pPr>
            <a:r>
              <a:rPr lang="en-US" sz="1900" dirty="0">
                <a:latin typeface="Century Gothic" panose="020B0502020202020204" pitchFamily="34" charset="0"/>
              </a:rPr>
              <a:t>This not only improves our understanding of the message, but also strengthens our interpersonal relationships. </a:t>
            </a:r>
          </a:p>
          <a:p>
            <a:pPr marL="457200" lvl="1" indent="0" algn="just">
              <a:buNone/>
            </a:pPr>
            <a:endParaRPr lang="en-US" sz="1900" dirty="0">
              <a:latin typeface="Century Gothic" panose="020B0502020202020204" pitchFamily="34" charset="0"/>
            </a:endParaRPr>
          </a:p>
          <a:p>
            <a:pPr marL="457200" lvl="1" indent="0" algn="just">
              <a:buNone/>
            </a:pPr>
            <a:r>
              <a:rPr lang="en-US" sz="1900" b="1" dirty="0">
                <a:latin typeface="Century Gothic" panose="020B0502020202020204" pitchFamily="34" charset="0"/>
              </a:rPr>
              <a:t>Active listening involves listening not only to the words, but also to the speaker's tone, emotion and body language.</a:t>
            </a:r>
          </a:p>
          <a:p>
            <a:pPr marL="0" indent="0" algn="just">
              <a:buNone/>
            </a:pPr>
            <a:endParaRPr lang="en-US" sz="1900" dirty="0">
              <a:latin typeface="Century Gothic" panose="020B0502020202020204" pitchFamily="34" charset="0"/>
            </a:endParaRPr>
          </a:p>
          <a:p>
            <a:pPr marL="0" indent="0" algn="just">
              <a:buNone/>
            </a:pPr>
            <a:endParaRPr lang="en-US" sz="1900" dirty="0">
              <a:latin typeface="Century Gothic" panose="020B0502020202020204" pitchFamily="34" charset="0"/>
            </a:endParaRPr>
          </a:p>
        </p:txBody>
      </p:sp>
      <p:pic>
        <p:nvPicPr>
          <p:cNvPr id="3074" name="Picture 2" descr="La importancia de la escucha activa | Grow Consultora">
            <a:extLst>
              <a:ext uri="{FF2B5EF4-FFF2-40B4-BE49-F238E27FC236}">
                <a16:creationId xmlns:a16="http://schemas.microsoft.com/office/drawing/2014/main" id="{03506DDC-AF44-40A8-BA91-79A8E374EE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663"/>
          <a:stretch/>
        </p:blipFill>
        <p:spPr bwMode="auto">
          <a:xfrm>
            <a:off x="6742728" y="2814638"/>
            <a:ext cx="5275157" cy="27570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370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idx="1"/>
          </p:nvPr>
        </p:nvSpPr>
        <p:spPr/>
        <p:txBody>
          <a:bodyPr>
            <a:normAutofit/>
          </a:bodyPr>
          <a:lstStyle/>
          <a:p>
            <a:r>
              <a:rPr lang="en-US" sz="4000" b="1" kern="0" dirty="0">
                <a:effectLst/>
                <a:latin typeface="Century Gothic" panose="020B0502020202020204" pitchFamily="34" charset="0"/>
                <a:ea typeface="Times New Roman" panose="02020603050405020304" pitchFamily="18" charset="0"/>
                <a:cs typeface="Times New Roman" panose="02020603050405020304" pitchFamily="18" charset="0"/>
              </a:rPr>
              <a:t>Active Listening Techniques</a:t>
            </a:r>
            <a:endParaRPr lang="en-US" sz="4000"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5" name="4 Título"/>
          <p:cNvSpPr>
            <a:spLocks noGrp="1"/>
          </p:cNvSpPr>
          <p:nvPr>
            <p:ph type="title"/>
          </p:nvPr>
        </p:nvSpPr>
        <p:spPr/>
        <p:txBody>
          <a:bodyPr/>
          <a:lstStyle/>
          <a:p>
            <a:r>
              <a:rPr lang="en-US" dirty="0"/>
              <a:t>Decision-Making and Strategic Communication in Health</a:t>
            </a:r>
          </a:p>
        </p:txBody>
      </p:sp>
      <p:sp>
        <p:nvSpPr>
          <p:cNvPr id="9" name="2 Marcador de contenido">
            <a:extLst>
              <a:ext uri="{FF2B5EF4-FFF2-40B4-BE49-F238E27FC236}">
                <a16:creationId xmlns:a16="http://schemas.microsoft.com/office/drawing/2014/main" id="{0F2461BB-63E7-EA7A-7A36-E84914CA590F}"/>
              </a:ext>
            </a:extLst>
          </p:cNvPr>
          <p:cNvSpPr>
            <a:spLocks noGrp="1"/>
          </p:cNvSpPr>
          <p:nvPr>
            <p:ph sz="half" idx="2"/>
          </p:nvPr>
        </p:nvSpPr>
        <p:spPr>
          <a:xfrm>
            <a:off x="6179185" y="2543111"/>
            <a:ext cx="5497484" cy="3836974"/>
          </a:xfrm>
        </p:spPr>
        <p:txBody>
          <a:bodyPr>
            <a:normAutofit fontScale="92500" lnSpcReduction="20000"/>
          </a:bodyPr>
          <a:lstStyle/>
          <a:p>
            <a:pPr>
              <a:lnSpc>
                <a:spcPct val="107000"/>
              </a:lnSpc>
              <a:spcAft>
                <a:spcPts val="800"/>
              </a:spcAft>
            </a:pPr>
            <a:r>
              <a:rPr lang="en-US" sz="1800" dirty="0">
                <a:effectLst/>
                <a:latin typeface="Century Gothic" panose="020B0502020202020204" pitchFamily="34" charset="0"/>
                <a:ea typeface="Calibri" panose="020F0502020204030204" pitchFamily="34" charset="0"/>
                <a:cs typeface="Times New Roman" panose="02020603050405020304" pitchFamily="18" charset="0"/>
              </a:rPr>
              <a:t>Paraphrasing: Repeating what the other person has said in our own words to confirm our understanding.</a:t>
            </a:r>
          </a:p>
          <a:p>
            <a:pPr>
              <a:lnSpc>
                <a:spcPct val="107000"/>
              </a:lnSpc>
              <a:spcAft>
                <a:spcPts val="800"/>
              </a:spcAft>
            </a:pPr>
            <a:r>
              <a:rPr lang="en-US" sz="1800" dirty="0">
                <a:effectLst/>
                <a:latin typeface="Century Gothic" panose="020B0502020202020204" pitchFamily="34" charset="0"/>
                <a:ea typeface="Calibri" panose="020F0502020204030204" pitchFamily="34" charset="0"/>
                <a:cs typeface="Times New Roman" panose="02020603050405020304" pitchFamily="18" charset="0"/>
              </a:rPr>
              <a:t>Asking open-ended questions: Encouraging the conversation to go deeper.</a:t>
            </a:r>
          </a:p>
          <a:p>
            <a:pPr>
              <a:lnSpc>
                <a:spcPct val="107000"/>
              </a:lnSpc>
              <a:spcAft>
                <a:spcPts val="800"/>
              </a:spcAft>
            </a:pPr>
            <a:r>
              <a:rPr lang="en-US" sz="1800" dirty="0">
                <a:effectLst/>
                <a:latin typeface="Century Gothic" panose="020B0502020202020204" pitchFamily="34" charset="0"/>
                <a:ea typeface="Calibri" panose="020F0502020204030204" pitchFamily="34" charset="0"/>
                <a:cs typeface="Times New Roman" panose="02020603050405020304" pitchFamily="18" charset="0"/>
              </a:rPr>
              <a:t>Showing nonverbal cues: Nodding, maintaining eye contact.</a:t>
            </a:r>
          </a:p>
          <a:p>
            <a:pPr>
              <a:lnSpc>
                <a:spcPct val="107000"/>
              </a:lnSpc>
              <a:spcAft>
                <a:spcPts val="800"/>
              </a:spcAft>
            </a:pPr>
            <a:r>
              <a:rPr lang="en-US" sz="1800" dirty="0">
                <a:effectLst/>
                <a:latin typeface="Century Gothic" panose="020B0502020202020204" pitchFamily="34" charset="0"/>
                <a:ea typeface="Calibri" panose="020F0502020204030204" pitchFamily="34" charset="0"/>
                <a:cs typeface="Times New Roman" panose="02020603050405020304" pitchFamily="18" charset="0"/>
              </a:rPr>
              <a:t>Avoiding interruptions: Letting the other person finish their ideas.</a:t>
            </a:r>
          </a:p>
          <a:p>
            <a:pPr>
              <a:lnSpc>
                <a:spcPct val="107000"/>
              </a:lnSpc>
              <a:spcAft>
                <a:spcPts val="800"/>
              </a:spcAft>
            </a:pPr>
            <a:r>
              <a:rPr lang="en-US" sz="1800" dirty="0">
                <a:effectLst/>
                <a:latin typeface="Century Gothic" panose="020B0502020202020204" pitchFamily="34" charset="0"/>
                <a:ea typeface="Calibri" panose="020F0502020204030204" pitchFamily="34" charset="0"/>
                <a:cs typeface="Times New Roman" panose="02020603050405020304" pitchFamily="18" charset="0"/>
              </a:rPr>
              <a:t>These techniques help us show that we are paying attention and allow us to better grasp the other person's message.</a:t>
            </a:r>
          </a:p>
          <a:p>
            <a:pPr marL="0" indent="0">
              <a:buNone/>
            </a:pPr>
            <a:endParaRPr lang="en-US" dirty="0"/>
          </a:p>
          <a:p>
            <a:pPr marL="0" indent="0">
              <a:buNone/>
            </a:pPr>
            <a:endParaRPr lang="en-US" dirty="0"/>
          </a:p>
        </p:txBody>
      </p:sp>
      <p:pic>
        <p:nvPicPr>
          <p:cNvPr id="4098" name="Picture 2" descr="Claves para mejorar la escucha activa (y que tus pacientes acepten su  presupuesto) - Brand&amp;Health - Marketing emocional para clínicas dentales y  médicas">
            <a:extLst>
              <a:ext uri="{FF2B5EF4-FFF2-40B4-BE49-F238E27FC236}">
                <a16:creationId xmlns:a16="http://schemas.microsoft.com/office/drawing/2014/main" id="{461AA962-1A6C-4F6B-9F33-FFAD560692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0620" y="2543111"/>
            <a:ext cx="5365380" cy="3577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4022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AAF97EE-16AC-5D69-E6B3-136EC45DF9EB}"/>
              </a:ext>
            </a:extLst>
          </p:cNvPr>
          <p:cNvSpPr>
            <a:spLocks noGrp="1"/>
          </p:cNvSpPr>
          <p:nvPr>
            <p:ph type="body" idx="1"/>
          </p:nvPr>
        </p:nvSpPr>
        <p:spPr>
          <a:xfrm>
            <a:off x="585413" y="1271693"/>
            <a:ext cx="10769771" cy="823912"/>
          </a:xfrm>
        </p:spPr>
        <p:txBody>
          <a:bodyPr>
            <a:normAutofit/>
          </a:bodyPr>
          <a:lstStyle/>
          <a:p>
            <a:r>
              <a:rPr lang="en-US" b="1" kern="0" dirty="0">
                <a:effectLst/>
                <a:latin typeface="Century Gothic" panose="020B0502020202020204" pitchFamily="34" charset="0"/>
                <a:ea typeface="Times New Roman" panose="02020603050405020304" pitchFamily="18" charset="0"/>
                <a:cs typeface="Times New Roman" panose="02020603050405020304" pitchFamily="18" charset="0"/>
              </a:rPr>
              <a:t>Benefits of Active Listening</a:t>
            </a:r>
            <a:endParaRPr lang="en-US"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0C3BC165-D19A-10FB-2A8C-FD0CDA75EC2E}"/>
              </a:ext>
            </a:extLst>
          </p:cNvPr>
          <p:cNvSpPr>
            <a:spLocks noGrp="1"/>
          </p:cNvSpPr>
          <p:nvPr>
            <p:ph sz="half" idx="2"/>
          </p:nvPr>
        </p:nvSpPr>
        <p:spPr>
          <a:xfrm>
            <a:off x="585413" y="2858025"/>
            <a:ext cx="5287486" cy="3808742"/>
          </a:xfrm>
        </p:spPr>
        <p:txBody>
          <a:bodyPr>
            <a:noAutofit/>
          </a:bodyPr>
          <a:lstStyle/>
          <a:p>
            <a:pPr algn="just">
              <a:tabLst>
                <a:tab pos="457200" algn="l"/>
              </a:tabLst>
            </a:pP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Improves understanding and retention of information</a:t>
            </a:r>
          </a:p>
          <a:p>
            <a:pPr algn="just">
              <a:tabLst>
                <a:tab pos="457200" algn="l"/>
              </a:tabLst>
            </a:pPr>
            <a:r>
              <a:rPr lang="en-US" sz="1900" kern="0" dirty="0">
                <a:latin typeface="Century Gothic" panose="020B0502020202020204" pitchFamily="34" charset="0"/>
                <a:ea typeface="Times New Roman" panose="02020603050405020304" pitchFamily="18" charset="0"/>
                <a:cs typeface="Times New Roman" panose="02020603050405020304" pitchFamily="18" charset="0"/>
              </a:rPr>
              <a:t>S</a:t>
            </a: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trengthens interpersonal relationships</a:t>
            </a:r>
          </a:p>
          <a:p>
            <a:pPr algn="just">
              <a:tabLst>
                <a:tab pos="457200" algn="l"/>
              </a:tabLst>
            </a:pPr>
            <a:r>
              <a:rPr lang="en-US" sz="1900" kern="0" dirty="0">
                <a:latin typeface="Century Gothic" panose="020B0502020202020204" pitchFamily="34" charset="0"/>
                <a:ea typeface="Times New Roman" panose="02020603050405020304" pitchFamily="18" charset="0"/>
                <a:cs typeface="Times New Roman" panose="02020603050405020304" pitchFamily="18" charset="0"/>
              </a:rPr>
              <a:t>F</a:t>
            </a: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osters an environment of respect and trust. </a:t>
            </a:r>
          </a:p>
          <a:p>
            <a:pPr algn="just">
              <a:tabLst>
                <a:tab pos="457200" algn="l"/>
              </a:tabLst>
            </a:pP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In health management, active listening can improve communication with patients and among members of the healthcare team, leading to better health outcomes.</a:t>
            </a:r>
            <a:endParaRPr lang="en-US" sz="1900" dirty="0">
              <a:latin typeface="Century Gothic" panose="020B0502020202020204" pitchFamily="34" charset="0"/>
            </a:endParaRPr>
          </a:p>
        </p:txBody>
      </p:sp>
      <p:sp>
        <p:nvSpPr>
          <p:cNvPr id="5" name="Título 4">
            <a:extLst>
              <a:ext uri="{FF2B5EF4-FFF2-40B4-BE49-F238E27FC236}">
                <a16:creationId xmlns:a16="http://schemas.microsoft.com/office/drawing/2014/main" id="{04390A44-499B-078F-3492-C4631D6FBA6B}"/>
              </a:ext>
            </a:extLst>
          </p:cNvPr>
          <p:cNvSpPr>
            <a:spLocks noGrp="1"/>
          </p:cNvSpPr>
          <p:nvPr>
            <p:ph type="title"/>
          </p:nvPr>
        </p:nvSpPr>
        <p:spPr/>
        <p:txBody>
          <a:bodyPr/>
          <a:lstStyle/>
          <a:p>
            <a:r>
              <a:rPr lang="en-US" dirty="0"/>
              <a:t>Decision-Making and Strategic Communication in Health</a:t>
            </a:r>
          </a:p>
        </p:txBody>
      </p:sp>
      <p:pic>
        <p:nvPicPr>
          <p:cNvPr id="5122" name="Picture 2" descr="CLAVES PARA MEJORAR LA ESCUCHA ACTIVA - Gamma Psicólogos">
            <a:extLst>
              <a:ext uri="{FF2B5EF4-FFF2-40B4-BE49-F238E27FC236}">
                <a16:creationId xmlns:a16="http://schemas.microsoft.com/office/drawing/2014/main" id="{76096EE5-B64D-48E3-BA10-ED2BAFE2E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5475" y="2962427"/>
            <a:ext cx="4005411" cy="2243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886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idx="1"/>
          </p:nvPr>
        </p:nvSpPr>
        <p:spPr/>
        <p:txBody>
          <a:bodyPr>
            <a:normAutofit/>
          </a:bodyPr>
          <a:lstStyle/>
          <a:p>
            <a:r>
              <a:rPr lang="en-US" b="1" kern="0" dirty="0">
                <a:effectLst/>
                <a:latin typeface="Century Gothic" panose="020B0502020202020204" pitchFamily="34" charset="0"/>
                <a:ea typeface="Times New Roman" panose="02020603050405020304" pitchFamily="18" charset="0"/>
                <a:cs typeface="Times New Roman" panose="02020603050405020304" pitchFamily="18" charset="0"/>
              </a:rPr>
              <a:t>Nonverbal Communication</a:t>
            </a:r>
            <a:endParaRPr lang="en-US"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5" name="4 Título"/>
          <p:cNvSpPr>
            <a:spLocks noGrp="1"/>
          </p:cNvSpPr>
          <p:nvPr>
            <p:ph type="title"/>
          </p:nvPr>
        </p:nvSpPr>
        <p:spPr/>
        <p:txBody>
          <a:bodyPr/>
          <a:lstStyle/>
          <a:p>
            <a:r>
              <a:rPr lang="en-US" dirty="0"/>
              <a:t>Decision-Making and Strategic Communication in Health</a:t>
            </a:r>
          </a:p>
        </p:txBody>
      </p:sp>
      <p:sp>
        <p:nvSpPr>
          <p:cNvPr id="9" name="2 Marcador de contenido">
            <a:extLst>
              <a:ext uri="{FF2B5EF4-FFF2-40B4-BE49-F238E27FC236}">
                <a16:creationId xmlns:a16="http://schemas.microsoft.com/office/drawing/2014/main" id="{0F2461BB-63E7-EA7A-7A36-E84914CA590F}"/>
              </a:ext>
            </a:extLst>
          </p:cNvPr>
          <p:cNvSpPr>
            <a:spLocks noGrp="1"/>
          </p:cNvSpPr>
          <p:nvPr>
            <p:ph sz="half" idx="2"/>
          </p:nvPr>
        </p:nvSpPr>
        <p:spPr>
          <a:xfrm>
            <a:off x="598516" y="2466474"/>
            <a:ext cx="6396173" cy="3723189"/>
          </a:xfrm>
        </p:spPr>
        <p:txBody>
          <a:bodyPr>
            <a:noAutofit/>
          </a:bodyPr>
          <a:lstStyle/>
          <a:p>
            <a:pPr marL="342900" lvl="0" indent="-342900" algn="just">
              <a:buFont typeface="+mj-lt"/>
              <a:buAutoNum type="arabicPeriod"/>
              <a:tabLst>
                <a:tab pos="457200" algn="l"/>
              </a:tabLst>
            </a:pPr>
            <a:r>
              <a:rPr lang="en-US" sz="1900" kern="100" dirty="0">
                <a:effectLst/>
                <a:latin typeface="Century Gothic" panose="020B0502020202020204" pitchFamily="34" charset="0"/>
                <a:ea typeface="Calibri" panose="020F0502020204030204" pitchFamily="34" charset="0"/>
                <a:cs typeface="Times New Roman" panose="02020603050405020304" pitchFamily="18" charset="0"/>
              </a:rPr>
              <a:t>Nonverbal communication is the transmission of messages without the use of words. It includes gestures, facial expressions, posture, eye contact and proxemics, which is the use of personal space and distance.</a:t>
            </a:r>
          </a:p>
          <a:p>
            <a:pPr marL="342900" lvl="0" indent="-342900" algn="just">
              <a:buFont typeface="+mj-lt"/>
              <a:buAutoNum type="arabicPeriod"/>
              <a:tabLst>
                <a:tab pos="457200" algn="l"/>
              </a:tabLst>
            </a:pPr>
            <a:endParaRPr lang="en-US" sz="1900" kern="100" dirty="0">
              <a:effectLst/>
              <a:latin typeface="Century Gothic" panose="020B0502020202020204" pitchFamily="34" charset="0"/>
              <a:ea typeface="Calibri" panose="020F0502020204030204" pitchFamily="34" charset="0"/>
              <a:cs typeface="Times New Roman" panose="02020603050405020304" pitchFamily="18" charset="0"/>
            </a:endParaRPr>
          </a:p>
          <a:p>
            <a:pPr marL="342900" lvl="0" indent="-342900" algn="just">
              <a:buFont typeface="+mj-lt"/>
              <a:buAutoNum type="arabicPeriod"/>
              <a:tabLst>
                <a:tab pos="457200" algn="l"/>
              </a:tabLst>
            </a:pPr>
            <a:r>
              <a:rPr lang="en-US" sz="1900" kern="100" dirty="0">
                <a:effectLst/>
                <a:latin typeface="Century Gothic" panose="020B0502020202020204" pitchFamily="34" charset="0"/>
                <a:ea typeface="Calibri" panose="020F0502020204030204" pitchFamily="34" charset="0"/>
                <a:cs typeface="Times New Roman" panose="02020603050405020304" pitchFamily="18" charset="0"/>
              </a:rPr>
              <a:t>Nonverbal communication can complement, emphasize or even replace verbal communication, and it is a crucial part of effective communication.</a:t>
            </a:r>
          </a:p>
          <a:p>
            <a:pPr marL="342900" lvl="0" indent="-342900" algn="just">
              <a:buFont typeface="+mj-lt"/>
              <a:buAutoNum type="arabicPeriod"/>
              <a:tabLst>
                <a:tab pos="457200" algn="l"/>
              </a:tabLst>
            </a:pPr>
            <a:endParaRPr lang="en-US" sz="1900"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pic>
        <p:nvPicPr>
          <p:cNvPr id="1026" name="Picture 2">
            <a:extLst>
              <a:ext uri="{FF2B5EF4-FFF2-40B4-BE49-F238E27FC236}">
                <a16:creationId xmlns:a16="http://schemas.microsoft.com/office/drawing/2014/main" id="{DD715233-1937-3A43-7FF4-9475D7B68DF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91197" y="2545837"/>
            <a:ext cx="3863988" cy="3863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3389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idx="1"/>
          </p:nvPr>
        </p:nvSpPr>
        <p:spPr/>
        <p:txBody>
          <a:bodyPr>
            <a:normAutofit fontScale="92500"/>
          </a:bodyPr>
          <a:lstStyle/>
          <a:p>
            <a:r>
              <a:rPr lang="en-US" b="1" kern="0" dirty="0">
                <a:effectLst/>
                <a:latin typeface="Century Gothic" panose="020B0502020202020204" pitchFamily="34" charset="0"/>
                <a:ea typeface="Times New Roman" panose="02020603050405020304" pitchFamily="18" charset="0"/>
                <a:cs typeface="Times New Roman" panose="02020603050405020304" pitchFamily="18" charset="0"/>
              </a:rPr>
              <a:t>Components of Nonverbal Communication</a:t>
            </a:r>
            <a:endParaRPr lang="en-US"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5" name="4 Título"/>
          <p:cNvSpPr>
            <a:spLocks noGrp="1"/>
          </p:cNvSpPr>
          <p:nvPr>
            <p:ph type="title"/>
          </p:nvPr>
        </p:nvSpPr>
        <p:spPr/>
        <p:txBody>
          <a:bodyPr/>
          <a:lstStyle/>
          <a:p>
            <a:r>
              <a:rPr lang="en-US" dirty="0"/>
              <a:t>Decision-Making and Strategic Communication in Health</a:t>
            </a:r>
          </a:p>
        </p:txBody>
      </p:sp>
      <p:sp>
        <p:nvSpPr>
          <p:cNvPr id="9" name="2 Marcador de contenido">
            <a:extLst>
              <a:ext uri="{FF2B5EF4-FFF2-40B4-BE49-F238E27FC236}">
                <a16:creationId xmlns:a16="http://schemas.microsoft.com/office/drawing/2014/main" id="{0F2461BB-63E7-EA7A-7A36-E84914CA590F}"/>
              </a:ext>
            </a:extLst>
          </p:cNvPr>
          <p:cNvSpPr>
            <a:spLocks noGrp="1"/>
          </p:cNvSpPr>
          <p:nvPr>
            <p:ph sz="half" idx="2"/>
          </p:nvPr>
        </p:nvSpPr>
        <p:spPr>
          <a:xfrm>
            <a:off x="4825218" y="2466474"/>
            <a:ext cx="6780628" cy="3723189"/>
          </a:xfrm>
        </p:spPr>
        <p:txBody>
          <a:bodyPr>
            <a:noAutofit/>
          </a:bodyPr>
          <a:lstStyle/>
          <a:p>
            <a:pPr marL="342900" lvl="0" indent="-342900">
              <a:buFont typeface="+mj-lt"/>
              <a:buAutoNum type="arabicPeriod"/>
              <a:tabLst>
                <a:tab pos="457200" algn="l"/>
              </a:tabLst>
            </a:pPr>
            <a:r>
              <a:rPr lang="en-US" sz="1900" b="1" kern="0" dirty="0">
                <a:effectLst/>
                <a:latin typeface="Century Gothic" panose="020B0502020202020204" pitchFamily="34" charset="0"/>
                <a:ea typeface="Times New Roman" panose="02020603050405020304" pitchFamily="18" charset="0"/>
                <a:cs typeface="Times New Roman" panose="02020603050405020304" pitchFamily="18" charset="0"/>
              </a:rPr>
              <a:t>Gestures: </a:t>
            </a: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Hand and arm movements that can emphasize or replace words</a:t>
            </a:r>
            <a:r>
              <a:rPr lang="en-US" sz="1900" b="1" kern="0" dirty="0">
                <a:effectLst/>
                <a:latin typeface="Century Gothic" panose="020B0502020202020204" pitchFamily="34" charset="0"/>
                <a:ea typeface="Times New Roman" panose="02020603050405020304" pitchFamily="18" charset="0"/>
                <a:cs typeface="Times New Roman" panose="02020603050405020304" pitchFamily="18" charset="0"/>
              </a:rPr>
              <a:t>.</a:t>
            </a:r>
          </a:p>
          <a:p>
            <a:pPr marL="342900" lvl="0" indent="-342900">
              <a:buFont typeface="+mj-lt"/>
              <a:buAutoNum type="arabicPeriod"/>
              <a:tabLst>
                <a:tab pos="457200" algn="l"/>
              </a:tabLst>
            </a:pPr>
            <a:r>
              <a:rPr lang="en-US" sz="1900" b="1" kern="0" dirty="0">
                <a:effectLst/>
                <a:latin typeface="Century Gothic" panose="020B0502020202020204" pitchFamily="34" charset="0"/>
                <a:ea typeface="Times New Roman" panose="02020603050405020304" pitchFamily="18" charset="0"/>
                <a:cs typeface="Times New Roman" panose="02020603050405020304" pitchFamily="18" charset="0"/>
              </a:rPr>
              <a:t>Facial expressions: </a:t>
            </a: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Reflect our emotions and can influence how our message is perceived.</a:t>
            </a:r>
          </a:p>
          <a:p>
            <a:pPr marL="342900" lvl="0" indent="-342900">
              <a:buFont typeface="+mj-lt"/>
              <a:buAutoNum type="arabicPeriod"/>
              <a:tabLst>
                <a:tab pos="457200" algn="l"/>
              </a:tabLst>
            </a:pPr>
            <a:r>
              <a:rPr lang="en-US" sz="1900" b="1" kern="0" dirty="0">
                <a:effectLst/>
                <a:latin typeface="Century Gothic" panose="020B0502020202020204" pitchFamily="34" charset="0"/>
                <a:ea typeface="Times New Roman" panose="02020603050405020304" pitchFamily="18" charset="0"/>
                <a:cs typeface="Times New Roman" panose="02020603050405020304" pitchFamily="18" charset="0"/>
              </a:rPr>
              <a:t>Posture: </a:t>
            </a: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The way we position ourselves can convey attitudes and emotions.</a:t>
            </a:r>
          </a:p>
          <a:p>
            <a:pPr marL="342900" lvl="0" indent="-342900">
              <a:buFont typeface="+mj-lt"/>
              <a:buAutoNum type="arabicPeriod"/>
              <a:tabLst>
                <a:tab pos="457200" algn="l"/>
              </a:tabLst>
            </a:pPr>
            <a:r>
              <a:rPr lang="en-US" sz="1900" b="1" kern="0" dirty="0">
                <a:effectLst/>
                <a:latin typeface="Century Gothic" panose="020B0502020202020204" pitchFamily="34" charset="0"/>
                <a:ea typeface="Times New Roman" panose="02020603050405020304" pitchFamily="18" charset="0"/>
                <a:cs typeface="Times New Roman" panose="02020603050405020304" pitchFamily="18" charset="0"/>
              </a:rPr>
              <a:t>Eye contact: </a:t>
            </a: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Maintaining or avoiding eye contact can affect perceptions of trust and sincerity.</a:t>
            </a:r>
          </a:p>
          <a:p>
            <a:pPr marL="342900" lvl="0" indent="-342900">
              <a:buFont typeface="+mj-lt"/>
              <a:buAutoNum type="arabicPeriod"/>
              <a:tabLst>
                <a:tab pos="457200" algn="l"/>
              </a:tabLst>
            </a:pPr>
            <a:r>
              <a:rPr lang="en-US" sz="1900" b="1" kern="0" dirty="0">
                <a:effectLst/>
                <a:latin typeface="Century Gothic" panose="020B0502020202020204" pitchFamily="34" charset="0"/>
                <a:ea typeface="Times New Roman" panose="02020603050405020304" pitchFamily="18" charset="0"/>
                <a:cs typeface="Times New Roman" panose="02020603050405020304" pitchFamily="18" charset="0"/>
              </a:rPr>
              <a:t>Proxemics: </a:t>
            </a: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The use of personal space and distance can influence comfort and receptiveness to the message.</a:t>
            </a:r>
          </a:p>
        </p:txBody>
      </p:sp>
      <p:pic>
        <p:nvPicPr>
          <p:cNvPr id="9218" name="Picture 2">
            <a:extLst>
              <a:ext uri="{FF2B5EF4-FFF2-40B4-BE49-F238E27FC236}">
                <a16:creationId xmlns:a16="http://schemas.microsoft.com/office/drawing/2014/main" id="{810B6404-C163-C689-02A7-F0273B20C0D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5414" y="2466474"/>
            <a:ext cx="4043362" cy="4043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34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idx="1"/>
          </p:nvPr>
        </p:nvSpPr>
        <p:spPr/>
        <p:txBody>
          <a:bodyPr>
            <a:normAutofit/>
          </a:bodyPr>
          <a:lstStyle/>
          <a:p>
            <a:r>
              <a:rPr lang="en-US" b="1" kern="0" dirty="0">
                <a:effectLst/>
                <a:latin typeface="Century Gothic" panose="020B0502020202020204" pitchFamily="34" charset="0"/>
                <a:ea typeface="Times New Roman" panose="02020603050405020304" pitchFamily="18" charset="0"/>
                <a:cs typeface="Times New Roman" panose="02020603050405020304" pitchFamily="18" charset="0"/>
              </a:rPr>
              <a:t>Importance of Nonverbal Communication</a:t>
            </a:r>
            <a:endParaRPr lang="en-US"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5" name="4 Título"/>
          <p:cNvSpPr>
            <a:spLocks noGrp="1"/>
          </p:cNvSpPr>
          <p:nvPr>
            <p:ph type="title"/>
          </p:nvPr>
        </p:nvSpPr>
        <p:spPr/>
        <p:txBody>
          <a:bodyPr/>
          <a:lstStyle/>
          <a:p>
            <a:r>
              <a:rPr lang="en-US" dirty="0"/>
              <a:t>Decision-Making and Strategic Communication in Health</a:t>
            </a:r>
          </a:p>
        </p:txBody>
      </p:sp>
      <p:sp>
        <p:nvSpPr>
          <p:cNvPr id="9" name="2 Marcador de contenido">
            <a:extLst>
              <a:ext uri="{FF2B5EF4-FFF2-40B4-BE49-F238E27FC236}">
                <a16:creationId xmlns:a16="http://schemas.microsoft.com/office/drawing/2014/main" id="{0F2461BB-63E7-EA7A-7A36-E84914CA590F}"/>
              </a:ext>
            </a:extLst>
          </p:cNvPr>
          <p:cNvSpPr>
            <a:spLocks noGrp="1"/>
          </p:cNvSpPr>
          <p:nvPr>
            <p:ph sz="half" idx="2"/>
          </p:nvPr>
        </p:nvSpPr>
        <p:spPr>
          <a:xfrm>
            <a:off x="391127" y="2516710"/>
            <a:ext cx="6415026" cy="2989262"/>
          </a:xfrm>
        </p:spPr>
        <p:txBody>
          <a:bodyPr>
            <a:noAutofit/>
          </a:bodyPr>
          <a:lstStyle/>
          <a:p>
            <a:pPr marL="342900" lvl="0" indent="-342900" algn="just">
              <a:buFont typeface="+mj-lt"/>
              <a:buAutoNum type="arabicPeriod"/>
              <a:tabLst>
                <a:tab pos="457200" algn="l"/>
              </a:tabLst>
            </a:pP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Nonverbal communication is essential because it complements and reinforces our verbal message.</a:t>
            </a:r>
          </a:p>
          <a:p>
            <a:pPr marL="342900" lvl="0" indent="-342900" algn="just">
              <a:buFont typeface="+mj-lt"/>
              <a:buAutoNum type="arabicPeriod"/>
              <a:tabLst>
                <a:tab pos="457200" algn="l"/>
              </a:tabLst>
            </a:pP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Inconsistent nonverbal communication can lead to misunderstandings and confusion. </a:t>
            </a:r>
          </a:p>
          <a:p>
            <a:pPr marL="0" lvl="0" indent="0" algn="just">
              <a:buNone/>
              <a:tabLst>
                <a:tab pos="457200" algn="l"/>
              </a:tabLst>
            </a:pPr>
            <a:r>
              <a:rPr lang="en-US" sz="1900" b="1" kern="0" dirty="0">
                <a:effectLst/>
                <a:latin typeface="Century Gothic" panose="020B0502020202020204" pitchFamily="34" charset="0"/>
                <a:ea typeface="Times New Roman" panose="02020603050405020304" pitchFamily="18" charset="0"/>
                <a:cs typeface="Times New Roman" panose="02020603050405020304" pitchFamily="18" charset="0"/>
              </a:rPr>
              <a:t> 	Example:</a:t>
            </a:r>
            <a:r>
              <a:rPr lang="en-US" sz="1900" kern="0" dirty="0">
                <a:effectLst/>
                <a:latin typeface="Century Gothic" panose="020B0502020202020204" pitchFamily="34" charset="0"/>
                <a:ea typeface="Times New Roman" panose="02020603050405020304" pitchFamily="18" charset="0"/>
                <a:cs typeface="Times New Roman" panose="02020603050405020304" pitchFamily="18" charset="0"/>
              </a:rPr>
              <a:t> If we say we are open to ideas, but cross our arms and avoid eye contact, the nonverbal message can contradict our words.</a:t>
            </a:r>
          </a:p>
          <a:p>
            <a:pPr marL="0" indent="0" algn="just">
              <a:buNone/>
            </a:pPr>
            <a:endParaRPr lang="en-US" sz="1900" dirty="0">
              <a:latin typeface="Century Gothic" panose="020B0502020202020204" pitchFamily="34" charset="0"/>
            </a:endParaRPr>
          </a:p>
        </p:txBody>
      </p:sp>
      <p:pic>
        <p:nvPicPr>
          <p:cNvPr id="4098" name="Picture 2" descr="Hombre pasando por un proceso de extracción de unidades foliculares">
            <a:extLst>
              <a:ext uri="{FF2B5EF4-FFF2-40B4-BE49-F238E27FC236}">
                <a16:creationId xmlns:a16="http://schemas.microsoft.com/office/drawing/2014/main" id="{E596C8CB-1904-D641-8149-84C492BC31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7810" y="2516710"/>
            <a:ext cx="4247375" cy="3672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4393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idx="1"/>
          </p:nvPr>
        </p:nvSpPr>
        <p:spPr/>
        <p:txBody>
          <a:bodyPr>
            <a:normAutofit fontScale="85000" lnSpcReduction="20000"/>
          </a:bodyPr>
          <a:lstStyle/>
          <a:p>
            <a:r>
              <a:rPr lang="en-US" b="1" kern="0" dirty="0">
                <a:effectLst/>
                <a:latin typeface="Century Gothic" panose="020B0502020202020204" pitchFamily="34" charset="0"/>
                <a:ea typeface="Times New Roman" panose="02020603050405020304" pitchFamily="18" charset="0"/>
                <a:cs typeface="Times New Roman" panose="02020603050405020304" pitchFamily="18" charset="0"/>
              </a:rPr>
              <a:t>Examples of Nonverbal Communication in Health Management</a:t>
            </a:r>
            <a:endParaRPr lang="en-US"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5" name="4 Título"/>
          <p:cNvSpPr>
            <a:spLocks noGrp="1"/>
          </p:cNvSpPr>
          <p:nvPr>
            <p:ph type="title"/>
          </p:nvPr>
        </p:nvSpPr>
        <p:spPr/>
        <p:txBody>
          <a:bodyPr/>
          <a:lstStyle/>
          <a:p>
            <a:r>
              <a:rPr lang="en-US" dirty="0"/>
              <a:t>Decision-Making and Strategic Communication in Health</a:t>
            </a:r>
          </a:p>
        </p:txBody>
      </p:sp>
      <p:sp>
        <p:nvSpPr>
          <p:cNvPr id="9" name="2 Marcador de contenido">
            <a:extLst>
              <a:ext uri="{FF2B5EF4-FFF2-40B4-BE49-F238E27FC236}">
                <a16:creationId xmlns:a16="http://schemas.microsoft.com/office/drawing/2014/main" id="{0F2461BB-63E7-EA7A-7A36-E84914CA590F}"/>
              </a:ext>
            </a:extLst>
          </p:cNvPr>
          <p:cNvSpPr>
            <a:spLocks noGrp="1"/>
          </p:cNvSpPr>
          <p:nvPr>
            <p:ph sz="half" idx="2"/>
          </p:nvPr>
        </p:nvSpPr>
        <p:spPr>
          <a:xfrm>
            <a:off x="225083" y="2598822"/>
            <a:ext cx="4818257" cy="2989262"/>
          </a:xfrm>
        </p:spPr>
        <p:txBody>
          <a:bodyPr>
            <a:noAutofit/>
          </a:bodyPr>
          <a:lstStyle/>
          <a:p>
            <a:pPr>
              <a:lnSpc>
                <a:spcPct val="107000"/>
              </a:lnSpc>
              <a:spcAft>
                <a:spcPts val="800"/>
              </a:spcAft>
            </a:pPr>
            <a:r>
              <a:rPr lang="en-US" sz="1800" dirty="0">
                <a:effectLst/>
                <a:latin typeface="Century Gothic" panose="020B0502020202020204" pitchFamily="34" charset="0"/>
                <a:ea typeface="Calibri" panose="020F0502020204030204" pitchFamily="34" charset="0"/>
                <a:cs typeface="Times New Roman" panose="02020603050405020304" pitchFamily="18" charset="0"/>
              </a:rPr>
              <a:t>Affirmation gestures: Nodding to show agreement or understanding.</a:t>
            </a:r>
          </a:p>
          <a:p>
            <a:pPr>
              <a:lnSpc>
                <a:spcPct val="107000"/>
              </a:lnSpc>
              <a:spcAft>
                <a:spcPts val="800"/>
              </a:spcAft>
            </a:pPr>
            <a:r>
              <a:rPr lang="en-US" sz="1800" dirty="0">
                <a:effectLst/>
                <a:latin typeface="Century Gothic" panose="020B0502020202020204" pitchFamily="34" charset="0"/>
                <a:ea typeface="Calibri" panose="020F0502020204030204" pitchFamily="34" charset="0"/>
                <a:cs typeface="Times New Roman" panose="02020603050405020304" pitchFamily="18" charset="0"/>
              </a:rPr>
              <a:t>Eye contact: Maintaining eye contact to show interest and attention.</a:t>
            </a: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Bef>
                <a:spcPts val="1000"/>
              </a:spcBef>
              <a:spcAft>
                <a:spcPts val="1000"/>
              </a:spcAft>
              <a:buSzPts val="1000"/>
              <a:buFont typeface="Symbol" pitchFamily="2" charset="2"/>
              <a:buChar char=""/>
              <a:tabLst>
                <a:tab pos="457200" algn="l"/>
              </a:tabLst>
            </a:pPr>
            <a:endParaRPr lang="en-US" sz="1900" dirty="0">
              <a:effectLst/>
              <a:latin typeface="Century Gothic" panose="020B0502020202020204" pitchFamily="34" charset="0"/>
              <a:ea typeface="Times New Roman" panose="02020603050405020304" pitchFamily="18" charset="0"/>
              <a:cs typeface="Arial" panose="020B0604020202020204" pitchFamily="34" charset="0"/>
            </a:endParaRPr>
          </a:p>
          <a:p>
            <a:pPr marL="0" indent="0" algn="just">
              <a:buNone/>
            </a:pPr>
            <a:endParaRPr lang="en-US" sz="1900" dirty="0">
              <a:latin typeface="Century Gothic" panose="020B0502020202020204" pitchFamily="34" charset="0"/>
            </a:endParaRPr>
          </a:p>
        </p:txBody>
      </p:sp>
      <p:pic>
        <p:nvPicPr>
          <p:cNvPr id="6146" name="Picture 2" descr="Los gestos que peor funcionan en la comunicación no verbal de un líder -  analisisnoverbal.com">
            <a:extLst>
              <a:ext uri="{FF2B5EF4-FFF2-40B4-BE49-F238E27FC236}">
                <a16:creationId xmlns:a16="http://schemas.microsoft.com/office/drawing/2014/main" id="{F58D00F0-693D-4367-8FEE-32EFBB29C5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6586" y="2701516"/>
            <a:ext cx="6888938" cy="3605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49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4CEABA7-6465-4BFD-B4F5-912A46136CF9}"/>
              </a:ext>
            </a:extLst>
          </p:cNvPr>
          <p:cNvSpPr>
            <a:spLocks noGrp="1"/>
          </p:cNvSpPr>
          <p:nvPr>
            <p:ph type="body" idx="1"/>
          </p:nvPr>
        </p:nvSpPr>
        <p:spPr/>
        <p:txBody>
          <a:bodyPr/>
          <a:lstStyle/>
          <a:p>
            <a:r>
              <a:rPr lang="en-US" dirty="0"/>
              <a:t>Categories of Gestures </a:t>
            </a:r>
          </a:p>
        </p:txBody>
      </p:sp>
      <p:sp>
        <p:nvSpPr>
          <p:cNvPr id="3" name="Marcador de contenido 2">
            <a:extLst>
              <a:ext uri="{FF2B5EF4-FFF2-40B4-BE49-F238E27FC236}">
                <a16:creationId xmlns:a16="http://schemas.microsoft.com/office/drawing/2014/main" id="{750381A6-56AF-4CA7-86F2-158B097986D1}"/>
              </a:ext>
            </a:extLst>
          </p:cNvPr>
          <p:cNvSpPr>
            <a:spLocks noGrp="1"/>
          </p:cNvSpPr>
          <p:nvPr>
            <p:ph sz="half" idx="2"/>
          </p:nvPr>
        </p:nvSpPr>
        <p:spPr/>
        <p:txBody>
          <a:bodyPr>
            <a:normAutofit fontScale="85000" lnSpcReduction="10000"/>
          </a:bodyPr>
          <a:lstStyle/>
          <a:p>
            <a:pPr marL="0" indent="0">
              <a:lnSpc>
                <a:spcPct val="130000"/>
              </a:lnSpc>
              <a:spcBef>
                <a:spcPts val="600"/>
              </a:spcBef>
            </a:pPr>
            <a:r>
              <a:rPr lang="en-US" b="1" i="0" dirty="0">
                <a:solidFill>
                  <a:srgbClr val="444444"/>
                </a:solidFill>
                <a:effectLst/>
                <a:latin typeface="Century Gothic" panose="020B0502020202020204" pitchFamily="34" charset="0"/>
              </a:rPr>
              <a:t>Adaptor gestures: </a:t>
            </a:r>
            <a:r>
              <a:rPr lang="en-US" i="0" dirty="0">
                <a:solidFill>
                  <a:srgbClr val="444444"/>
                </a:solidFill>
                <a:effectLst/>
                <a:latin typeface="Century Gothic" panose="020B0502020202020204" pitchFamily="34" charset="0"/>
              </a:rPr>
              <a:t>They are t</a:t>
            </a:r>
            <a:r>
              <a:rPr lang="en-US" b="0" i="0" dirty="0">
                <a:solidFill>
                  <a:srgbClr val="444444"/>
                </a:solidFill>
                <a:effectLst/>
                <a:latin typeface="Century Gothic" panose="020B0502020202020204" pitchFamily="34" charset="0"/>
              </a:rPr>
              <a:t>he </a:t>
            </a:r>
            <a:r>
              <a:rPr lang="en-US" b="1" i="0" dirty="0">
                <a:solidFill>
                  <a:srgbClr val="444444"/>
                </a:solidFill>
                <a:effectLst/>
                <a:latin typeface="Century Gothic" panose="020B0502020202020204" pitchFamily="34" charset="0"/>
              </a:rPr>
              <a:t>least </a:t>
            </a:r>
            <a:r>
              <a:rPr lang="en-US" b="0" i="0" dirty="0">
                <a:solidFill>
                  <a:srgbClr val="444444"/>
                </a:solidFill>
                <a:effectLst/>
                <a:latin typeface="Century Gothic" panose="020B0502020202020204" pitchFamily="34" charset="0"/>
              </a:rPr>
              <a:t>effective gestures in communication. They tend to convey an image of </a:t>
            </a:r>
            <a:r>
              <a:rPr lang="en-US" b="1" i="0" dirty="0">
                <a:solidFill>
                  <a:srgbClr val="444444"/>
                </a:solidFill>
                <a:effectLst/>
                <a:latin typeface="Century Gothic" panose="020B0502020202020204" pitchFamily="34" charset="0"/>
              </a:rPr>
              <a:t>insecurity </a:t>
            </a:r>
            <a:r>
              <a:rPr lang="en-US" b="0" i="0" dirty="0">
                <a:solidFill>
                  <a:srgbClr val="444444"/>
                </a:solidFill>
                <a:effectLst/>
                <a:latin typeface="Century Gothic" panose="020B0502020202020204" pitchFamily="34" charset="0"/>
              </a:rPr>
              <a:t>inconsistent with the </a:t>
            </a:r>
            <a:r>
              <a:rPr lang="en-US" b="1" i="0" dirty="0">
                <a:solidFill>
                  <a:srgbClr val="444444"/>
                </a:solidFill>
                <a:effectLst/>
                <a:latin typeface="Century Gothic" panose="020B0502020202020204" pitchFamily="34" charset="0"/>
              </a:rPr>
              <a:t>composure </a:t>
            </a:r>
            <a:r>
              <a:rPr lang="en-US" b="0" i="0" dirty="0">
                <a:solidFill>
                  <a:srgbClr val="444444"/>
                </a:solidFill>
                <a:effectLst/>
                <a:latin typeface="Century Gothic" panose="020B0502020202020204" pitchFamily="34" charset="0"/>
              </a:rPr>
              <a:t>desirable in a </a:t>
            </a:r>
            <a:r>
              <a:rPr lang="en-US" b="1" i="0" dirty="0">
                <a:solidFill>
                  <a:srgbClr val="444444"/>
                </a:solidFill>
                <a:effectLst/>
                <a:latin typeface="Century Gothic" panose="020B0502020202020204" pitchFamily="34" charset="0"/>
              </a:rPr>
              <a:t>leader</a:t>
            </a:r>
            <a:r>
              <a:rPr lang="en-US" b="0" i="0" dirty="0">
                <a:solidFill>
                  <a:srgbClr val="444444"/>
                </a:solidFill>
                <a:effectLst/>
                <a:latin typeface="Century Gothic" panose="020B0502020202020204" pitchFamily="34" charset="0"/>
              </a:rPr>
              <a:t>. Their impact on the audience's </a:t>
            </a:r>
            <a:r>
              <a:rPr lang="en-US" b="1" i="0" dirty="0">
                <a:solidFill>
                  <a:srgbClr val="444444"/>
                </a:solidFill>
                <a:effectLst/>
                <a:latin typeface="Century Gothic" panose="020B0502020202020204" pitchFamily="34" charset="0"/>
              </a:rPr>
              <a:t>unconscious </a:t>
            </a:r>
            <a:r>
              <a:rPr lang="en-US" b="0" i="0" dirty="0">
                <a:solidFill>
                  <a:srgbClr val="444444"/>
                </a:solidFill>
                <a:effectLst/>
                <a:latin typeface="Century Gothic" panose="020B0502020202020204" pitchFamily="34" charset="0"/>
              </a:rPr>
              <a:t>mind is considerable, because the </a:t>
            </a:r>
            <a:r>
              <a:rPr lang="en-US" b="1" i="0" dirty="0">
                <a:solidFill>
                  <a:srgbClr val="444444"/>
                </a:solidFill>
                <a:effectLst/>
                <a:latin typeface="Century Gothic" panose="020B0502020202020204" pitchFamily="34" charset="0"/>
              </a:rPr>
              <a:t>limbic system</a:t>
            </a:r>
            <a:r>
              <a:rPr lang="en-US" b="0" i="0" dirty="0">
                <a:solidFill>
                  <a:srgbClr val="444444"/>
                </a:solidFill>
                <a:effectLst/>
                <a:latin typeface="Century Gothic" panose="020B0502020202020204" pitchFamily="34" charset="0"/>
              </a:rPr>
              <a:t> of our brain is genetically programmed to automatically process this type of nonverbal behavior.</a:t>
            </a:r>
            <a:endParaRPr lang="en-US" dirty="0">
              <a:latin typeface="Century Gothic" panose="020B0502020202020204" pitchFamily="34" charset="0"/>
            </a:endParaRPr>
          </a:p>
        </p:txBody>
      </p:sp>
      <p:sp>
        <p:nvSpPr>
          <p:cNvPr id="5" name="Título 4">
            <a:extLst>
              <a:ext uri="{FF2B5EF4-FFF2-40B4-BE49-F238E27FC236}">
                <a16:creationId xmlns:a16="http://schemas.microsoft.com/office/drawing/2014/main" id="{4FC6FF03-DF2E-448E-963C-38C19EF6FD3B}"/>
              </a:ext>
            </a:extLst>
          </p:cNvPr>
          <p:cNvSpPr>
            <a:spLocks noGrp="1"/>
          </p:cNvSpPr>
          <p:nvPr>
            <p:ph type="title"/>
          </p:nvPr>
        </p:nvSpPr>
        <p:spPr/>
        <p:txBody>
          <a:bodyPr/>
          <a:lstStyle/>
          <a:p>
            <a:r>
              <a:rPr lang="en-US" dirty="0"/>
              <a:t>Decision-Making and Strategic Communication in Health</a:t>
            </a:r>
          </a:p>
        </p:txBody>
      </p:sp>
    </p:spTree>
    <p:extLst>
      <p:ext uri="{BB962C8B-B14F-4D97-AF65-F5344CB8AC3E}">
        <p14:creationId xmlns:p14="http://schemas.microsoft.com/office/powerpoint/2010/main" val="923556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3D4EB94F-BC47-4881-9A5D-1C0D4FCEA498}"/>
              </a:ext>
            </a:extLst>
          </p:cNvPr>
          <p:cNvSpPr>
            <a:spLocks noGrp="1"/>
          </p:cNvSpPr>
          <p:nvPr>
            <p:ph type="body" idx="1"/>
          </p:nvPr>
        </p:nvSpPr>
        <p:spPr/>
        <p:txBody>
          <a:bodyPr/>
          <a:lstStyle/>
          <a:p>
            <a:r>
              <a:rPr lang="en-US" dirty="0"/>
              <a:t>Adaptor Gestures </a:t>
            </a:r>
          </a:p>
        </p:txBody>
      </p:sp>
      <p:sp>
        <p:nvSpPr>
          <p:cNvPr id="3" name="Marcador de contenido 2">
            <a:extLst>
              <a:ext uri="{FF2B5EF4-FFF2-40B4-BE49-F238E27FC236}">
                <a16:creationId xmlns:a16="http://schemas.microsoft.com/office/drawing/2014/main" id="{0F010D47-0100-4CD7-AC09-AEE1BF601701}"/>
              </a:ext>
            </a:extLst>
          </p:cNvPr>
          <p:cNvSpPr>
            <a:spLocks noGrp="1"/>
          </p:cNvSpPr>
          <p:nvPr>
            <p:ph sz="half" idx="2"/>
          </p:nvPr>
        </p:nvSpPr>
        <p:spPr>
          <a:xfrm>
            <a:off x="276519" y="2681926"/>
            <a:ext cx="5145466" cy="3718874"/>
          </a:xfrm>
        </p:spPr>
        <p:txBody>
          <a:bodyPr>
            <a:normAutofit fontScale="70000" lnSpcReduction="20000"/>
          </a:bodyPr>
          <a:lstStyle/>
          <a:p>
            <a:pPr marL="0" indent="0">
              <a:lnSpc>
                <a:spcPct val="120000"/>
              </a:lnSpc>
              <a:spcBef>
                <a:spcPts val="0"/>
              </a:spcBef>
            </a:pPr>
            <a:r>
              <a:rPr lang="en-US" b="1" i="0" dirty="0">
                <a:solidFill>
                  <a:srgbClr val="444444"/>
                </a:solidFill>
                <a:effectLst/>
                <a:latin typeface="Century Gothic" panose="020B0502020202020204" pitchFamily="34" charset="0"/>
              </a:rPr>
              <a:t>Nail biting</a:t>
            </a:r>
            <a:r>
              <a:rPr lang="en-US" b="0" i="0" dirty="0">
                <a:solidFill>
                  <a:srgbClr val="444444"/>
                </a:solidFill>
                <a:effectLst/>
                <a:latin typeface="Century Gothic" panose="020B0502020202020204" pitchFamily="34" charset="0"/>
              </a:rPr>
              <a:t> is perhaps one of the most </a:t>
            </a:r>
            <a:r>
              <a:rPr lang="en-US" b="1" i="0" dirty="0">
                <a:solidFill>
                  <a:srgbClr val="444444"/>
                </a:solidFill>
                <a:effectLst/>
                <a:latin typeface="Century Gothic" panose="020B0502020202020204" pitchFamily="34" charset="0"/>
              </a:rPr>
              <a:t>popular </a:t>
            </a:r>
            <a:r>
              <a:rPr lang="en-US" b="0" i="0" dirty="0">
                <a:solidFill>
                  <a:srgbClr val="444444"/>
                </a:solidFill>
                <a:effectLst/>
                <a:latin typeface="Century Gothic" panose="020B0502020202020204" pitchFamily="34" charset="0"/>
              </a:rPr>
              <a:t>and easily </a:t>
            </a:r>
            <a:r>
              <a:rPr lang="en-US" b="1" i="0" dirty="0">
                <a:solidFill>
                  <a:srgbClr val="444444"/>
                </a:solidFill>
                <a:effectLst/>
                <a:latin typeface="Century Gothic" panose="020B0502020202020204" pitchFamily="34" charset="0"/>
              </a:rPr>
              <a:t>recognizable</a:t>
            </a:r>
            <a:r>
              <a:rPr lang="en-US" b="0" i="0" dirty="0">
                <a:solidFill>
                  <a:srgbClr val="444444"/>
                </a:solidFill>
                <a:effectLst/>
                <a:latin typeface="Century Gothic" panose="020B0502020202020204" pitchFamily="34" charset="0"/>
              </a:rPr>
              <a:t> adaptors, but the variety is almost endless: </a:t>
            </a:r>
            <a:r>
              <a:rPr lang="en-US" b="1" i="0" dirty="0">
                <a:solidFill>
                  <a:srgbClr val="444444"/>
                </a:solidFill>
                <a:effectLst/>
                <a:latin typeface="Century Gothic" panose="020B0502020202020204" pitchFamily="34" charset="0"/>
              </a:rPr>
              <a:t>scratching</a:t>
            </a:r>
            <a:r>
              <a:rPr lang="en-US" b="0" i="0" dirty="0">
                <a:solidFill>
                  <a:srgbClr val="444444"/>
                </a:solidFill>
                <a:effectLst/>
                <a:latin typeface="Century Gothic" panose="020B0502020202020204" pitchFamily="34" charset="0"/>
              </a:rPr>
              <a:t>, </a:t>
            </a:r>
            <a:r>
              <a:rPr lang="en-US" b="1" i="0" dirty="0">
                <a:solidFill>
                  <a:srgbClr val="444444"/>
                </a:solidFill>
                <a:effectLst/>
                <a:latin typeface="Century Gothic" panose="020B0502020202020204" pitchFamily="34" charset="0"/>
              </a:rPr>
              <a:t>touching</a:t>
            </a:r>
            <a:r>
              <a:rPr lang="en-US" b="0" i="0" dirty="0">
                <a:solidFill>
                  <a:srgbClr val="444444"/>
                </a:solidFill>
                <a:effectLst/>
                <a:latin typeface="Century Gothic" panose="020B0502020202020204" pitchFamily="34" charset="0"/>
              </a:rPr>
              <a:t>, </a:t>
            </a:r>
            <a:r>
              <a:rPr lang="en-US" b="1" i="0" dirty="0">
                <a:solidFill>
                  <a:srgbClr val="444444"/>
                </a:solidFill>
                <a:effectLst/>
                <a:latin typeface="Century Gothic" panose="020B0502020202020204" pitchFamily="34" charset="0"/>
              </a:rPr>
              <a:t>rubbing</a:t>
            </a:r>
            <a:r>
              <a:rPr lang="en-US" b="0" i="0" dirty="0">
                <a:solidFill>
                  <a:srgbClr val="444444"/>
                </a:solidFill>
                <a:effectLst/>
                <a:latin typeface="Century Gothic" panose="020B0502020202020204" pitchFamily="34" charset="0"/>
              </a:rPr>
              <a:t>, </a:t>
            </a:r>
          </a:p>
          <a:p>
            <a:pPr marL="0" indent="0">
              <a:lnSpc>
                <a:spcPct val="120000"/>
              </a:lnSpc>
              <a:spcBef>
                <a:spcPts val="0"/>
              </a:spcBef>
              <a:buNone/>
            </a:pPr>
            <a:r>
              <a:rPr lang="en-US" b="1" i="0" dirty="0">
                <a:solidFill>
                  <a:srgbClr val="444444"/>
                </a:solidFill>
                <a:effectLst/>
                <a:latin typeface="Century Gothic" panose="020B0502020202020204" pitchFamily="34" charset="0"/>
              </a:rPr>
              <a:t>fiddling with</a:t>
            </a:r>
            <a:r>
              <a:rPr lang="en-US" b="0" i="0" dirty="0">
                <a:solidFill>
                  <a:srgbClr val="444444"/>
                </a:solidFill>
                <a:effectLst/>
                <a:latin typeface="Century Gothic" panose="020B0502020202020204" pitchFamily="34" charset="0"/>
              </a:rPr>
              <a:t>, </a:t>
            </a:r>
            <a:r>
              <a:rPr lang="en-US" b="1" i="0" dirty="0">
                <a:solidFill>
                  <a:srgbClr val="444444"/>
                </a:solidFill>
                <a:effectLst/>
                <a:latin typeface="Century Gothic" panose="020B0502020202020204" pitchFamily="34" charset="0"/>
              </a:rPr>
              <a:t>squeezing </a:t>
            </a:r>
            <a:r>
              <a:rPr lang="en-US" b="0" i="0" dirty="0">
                <a:solidFill>
                  <a:srgbClr val="444444"/>
                </a:solidFill>
                <a:effectLst/>
                <a:latin typeface="Century Gothic" panose="020B0502020202020204" pitchFamily="34" charset="0"/>
              </a:rPr>
              <a:t>or </a:t>
            </a:r>
            <a:r>
              <a:rPr lang="en-US" b="1" i="0" dirty="0">
                <a:solidFill>
                  <a:srgbClr val="444444"/>
                </a:solidFill>
                <a:effectLst/>
                <a:latin typeface="Century Gothic" panose="020B0502020202020204" pitchFamily="34" charset="0"/>
              </a:rPr>
              <a:t>manipulating </a:t>
            </a:r>
            <a:r>
              <a:rPr lang="en-US" b="0" i="0" dirty="0">
                <a:solidFill>
                  <a:srgbClr val="444444"/>
                </a:solidFill>
                <a:effectLst/>
                <a:latin typeface="Century Gothic" panose="020B0502020202020204" pitchFamily="34" charset="0"/>
              </a:rPr>
              <a:t>in any way any part of the </a:t>
            </a:r>
            <a:r>
              <a:rPr lang="en-US" b="1" i="0" dirty="0">
                <a:solidFill>
                  <a:srgbClr val="444444"/>
                </a:solidFill>
                <a:effectLst/>
                <a:latin typeface="Century Gothic" panose="020B0502020202020204" pitchFamily="34" charset="0"/>
              </a:rPr>
              <a:t>body </a:t>
            </a:r>
            <a:r>
              <a:rPr lang="en-US" b="0" i="0" dirty="0">
                <a:solidFill>
                  <a:srgbClr val="444444"/>
                </a:solidFill>
                <a:effectLst/>
                <a:latin typeface="Century Gothic" panose="020B0502020202020204" pitchFamily="34" charset="0"/>
              </a:rPr>
              <a:t>or an </a:t>
            </a:r>
            <a:r>
              <a:rPr lang="en-US" b="1" i="0" dirty="0">
                <a:solidFill>
                  <a:srgbClr val="444444"/>
                </a:solidFill>
                <a:effectLst/>
                <a:latin typeface="Century Gothic" panose="020B0502020202020204" pitchFamily="34" charset="0"/>
              </a:rPr>
              <a:t>object</a:t>
            </a:r>
            <a:r>
              <a:rPr lang="en-US" b="0" i="0" dirty="0">
                <a:solidFill>
                  <a:srgbClr val="444444"/>
                </a:solidFill>
                <a:effectLst/>
                <a:latin typeface="Century Gothic" panose="020B0502020202020204" pitchFamily="34" charset="0"/>
              </a:rPr>
              <a:t>: these are adaptor gestures that usually express </a:t>
            </a:r>
            <a:r>
              <a:rPr lang="en-US" b="1" i="0" dirty="0">
                <a:solidFill>
                  <a:srgbClr val="444444"/>
                </a:solidFill>
                <a:effectLst/>
                <a:latin typeface="Century Gothic" panose="020B0502020202020204" pitchFamily="34" charset="0"/>
              </a:rPr>
              <a:t>nervousness, anxiety </a:t>
            </a:r>
            <a:r>
              <a:rPr lang="en-US" b="0" i="0" dirty="0">
                <a:solidFill>
                  <a:srgbClr val="444444"/>
                </a:solidFill>
                <a:effectLst/>
                <a:latin typeface="Century Gothic" panose="020B0502020202020204" pitchFamily="34" charset="0"/>
              </a:rPr>
              <a:t>and </a:t>
            </a:r>
            <a:r>
              <a:rPr lang="en-US" b="1" i="0" dirty="0">
                <a:solidFill>
                  <a:srgbClr val="444444"/>
                </a:solidFill>
                <a:effectLst/>
                <a:latin typeface="Century Gothic" panose="020B0502020202020204" pitchFamily="34" charset="0"/>
              </a:rPr>
              <a:t>insecurity</a:t>
            </a:r>
            <a:r>
              <a:rPr lang="en-US" b="0" i="0" dirty="0">
                <a:solidFill>
                  <a:srgbClr val="444444"/>
                </a:solidFill>
                <a:effectLst/>
                <a:latin typeface="Century Gothic" panose="020B0502020202020204" pitchFamily="34" charset="0"/>
              </a:rPr>
              <a:t>. </a:t>
            </a:r>
            <a:endParaRPr lang="en-US" dirty="0">
              <a:latin typeface="Century Gothic" panose="020B0502020202020204" pitchFamily="34" charset="0"/>
            </a:endParaRPr>
          </a:p>
        </p:txBody>
      </p:sp>
      <p:sp>
        <p:nvSpPr>
          <p:cNvPr id="5" name="Título 4">
            <a:extLst>
              <a:ext uri="{FF2B5EF4-FFF2-40B4-BE49-F238E27FC236}">
                <a16:creationId xmlns:a16="http://schemas.microsoft.com/office/drawing/2014/main" id="{813072E0-9FF2-4EC1-8FB2-D688519B3934}"/>
              </a:ext>
            </a:extLst>
          </p:cNvPr>
          <p:cNvSpPr>
            <a:spLocks noGrp="1"/>
          </p:cNvSpPr>
          <p:nvPr>
            <p:ph type="title"/>
          </p:nvPr>
        </p:nvSpPr>
        <p:spPr/>
        <p:txBody>
          <a:bodyPr/>
          <a:lstStyle/>
          <a:p>
            <a:r>
              <a:rPr lang="en-US" dirty="0"/>
              <a:t>Decision-Making and Strategic Communication in Health</a:t>
            </a:r>
          </a:p>
        </p:txBody>
      </p:sp>
      <p:pic>
        <p:nvPicPr>
          <p:cNvPr id="7170" name="Picture 2" descr="Gestos adaptadores de Albert Rivera, el líder de Ciudadanos">
            <a:extLst>
              <a:ext uri="{FF2B5EF4-FFF2-40B4-BE49-F238E27FC236}">
                <a16:creationId xmlns:a16="http://schemas.microsoft.com/office/drawing/2014/main" id="{B10E517F-F609-464E-8052-D8786414C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1985" y="2958152"/>
            <a:ext cx="6493496" cy="3246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407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CFB4A99-AD8B-4D62-8FD3-EEF18B546A27}"/>
              </a:ext>
            </a:extLst>
          </p:cNvPr>
          <p:cNvSpPr>
            <a:spLocks noGrp="1"/>
          </p:cNvSpPr>
          <p:nvPr>
            <p:ph type="body" idx="1"/>
          </p:nvPr>
        </p:nvSpPr>
        <p:spPr/>
        <p:txBody>
          <a:bodyPr/>
          <a:lstStyle/>
          <a:p>
            <a:r>
              <a:rPr lang="en-US" dirty="0">
                <a:latin typeface="Century Gothic" panose="020B0502020202020204" pitchFamily="34" charset="0"/>
              </a:rPr>
              <a:t>Relaxation Gestures</a:t>
            </a:r>
          </a:p>
        </p:txBody>
      </p:sp>
      <p:sp>
        <p:nvSpPr>
          <p:cNvPr id="3" name="Marcador de contenido 2">
            <a:extLst>
              <a:ext uri="{FF2B5EF4-FFF2-40B4-BE49-F238E27FC236}">
                <a16:creationId xmlns:a16="http://schemas.microsoft.com/office/drawing/2014/main" id="{B18636D5-B6F6-46C2-ADDD-B53B3F1D53F3}"/>
              </a:ext>
            </a:extLst>
          </p:cNvPr>
          <p:cNvSpPr>
            <a:spLocks noGrp="1"/>
          </p:cNvSpPr>
          <p:nvPr>
            <p:ph sz="half" idx="2"/>
          </p:nvPr>
        </p:nvSpPr>
        <p:spPr>
          <a:xfrm>
            <a:off x="6378804" y="2810662"/>
            <a:ext cx="5700148" cy="2989262"/>
          </a:xfrm>
        </p:spPr>
        <p:txBody>
          <a:bodyPr>
            <a:normAutofit/>
          </a:bodyPr>
          <a:lstStyle/>
          <a:p>
            <a:r>
              <a:rPr lang="en-US" b="0" i="0" dirty="0">
                <a:solidFill>
                  <a:srgbClr val="444444"/>
                </a:solidFill>
                <a:effectLst/>
                <a:latin typeface="Century Gothic" panose="020B0502020202020204" pitchFamily="34" charset="0"/>
              </a:rPr>
              <a:t>Relaxation gestures appear mainly in an environment of </a:t>
            </a:r>
            <a:r>
              <a:rPr lang="en-US" b="1" i="0" dirty="0">
                <a:solidFill>
                  <a:srgbClr val="444444"/>
                </a:solidFill>
                <a:effectLst/>
                <a:latin typeface="Century Gothic" panose="020B0502020202020204" pitchFamily="34" charset="0"/>
              </a:rPr>
              <a:t>intimacy </a:t>
            </a:r>
            <a:r>
              <a:rPr lang="en-US" b="0" i="0" dirty="0">
                <a:solidFill>
                  <a:srgbClr val="444444"/>
                </a:solidFill>
                <a:effectLst/>
                <a:latin typeface="Century Gothic" panose="020B0502020202020204" pitchFamily="34" charset="0"/>
              </a:rPr>
              <a:t>or when we believe no one is watching us. In this case, the gestures are usually linked to certain </a:t>
            </a:r>
            <a:r>
              <a:rPr lang="en-US" b="1" i="0" dirty="0">
                <a:solidFill>
                  <a:srgbClr val="444444"/>
                </a:solidFill>
                <a:effectLst/>
                <a:latin typeface="Century Gothic" panose="020B0502020202020204" pitchFamily="34" charset="0"/>
              </a:rPr>
              <a:t>physiological needs</a:t>
            </a:r>
            <a:r>
              <a:rPr lang="en-US" b="0" i="0" dirty="0">
                <a:solidFill>
                  <a:srgbClr val="444444"/>
                </a:solidFill>
                <a:effectLst/>
                <a:latin typeface="Century Gothic" panose="020B0502020202020204" pitchFamily="34" charset="0"/>
              </a:rPr>
              <a:t>, such as </a:t>
            </a:r>
            <a:r>
              <a:rPr lang="en-US" b="1" i="0" dirty="0">
                <a:solidFill>
                  <a:srgbClr val="444444"/>
                </a:solidFill>
                <a:effectLst/>
                <a:latin typeface="Century Gothic" panose="020B0502020202020204" pitchFamily="34" charset="0"/>
              </a:rPr>
              <a:t>tiredness</a:t>
            </a:r>
            <a:endParaRPr lang="en-US" dirty="0">
              <a:latin typeface="Century Gothic" panose="020B0502020202020204" pitchFamily="34" charset="0"/>
            </a:endParaRPr>
          </a:p>
        </p:txBody>
      </p:sp>
      <p:sp>
        <p:nvSpPr>
          <p:cNvPr id="5" name="Título 4">
            <a:extLst>
              <a:ext uri="{FF2B5EF4-FFF2-40B4-BE49-F238E27FC236}">
                <a16:creationId xmlns:a16="http://schemas.microsoft.com/office/drawing/2014/main" id="{04810E67-5963-46C4-A5C4-8A9FEB396707}"/>
              </a:ext>
            </a:extLst>
          </p:cNvPr>
          <p:cNvSpPr>
            <a:spLocks noGrp="1"/>
          </p:cNvSpPr>
          <p:nvPr>
            <p:ph type="title"/>
          </p:nvPr>
        </p:nvSpPr>
        <p:spPr/>
        <p:txBody>
          <a:bodyPr/>
          <a:lstStyle/>
          <a:p>
            <a:r>
              <a:rPr lang="en-US" dirty="0"/>
              <a:t>Decision-Making and Strategic Communication in Health</a:t>
            </a:r>
          </a:p>
        </p:txBody>
      </p:sp>
      <p:pic>
        <p:nvPicPr>
          <p:cNvPr id="8194" name="Picture 2" descr="Gestos adaptadores de Angela Merkel">
            <a:extLst>
              <a:ext uri="{FF2B5EF4-FFF2-40B4-BE49-F238E27FC236}">
                <a16:creationId xmlns:a16="http://schemas.microsoft.com/office/drawing/2014/main" id="{B888E275-41CF-4D0C-9844-24A146FEF9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280" y="2778912"/>
            <a:ext cx="6105524" cy="3052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117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6B069A5-F292-43DD-8244-9D379EC25178}"/>
              </a:ext>
            </a:extLst>
          </p:cNvPr>
          <p:cNvSpPr>
            <a:spLocks noGrp="1"/>
          </p:cNvSpPr>
          <p:nvPr>
            <p:ph type="body" idx="1"/>
          </p:nvPr>
        </p:nvSpPr>
        <p:spPr/>
        <p:txBody>
          <a:bodyPr/>
          <a:lstStyle/>
          <a:p>
            <a:r>
              <a:rPr lang="en-US" dirty="0"/>
              <a:t>Watch What We Touch</a:t>
            </a:r>
          </a:p>
        </p:txBody>
      </p:sp>
      <p:sp>
        <p:nvSpPr>
          <p:cNvPr id="3" name="Marcador de contenido 2">
            <a:extLst>
              <a:ext uri="{FF2B5EF4-FFF2-40B4-BE49-F238E27FC236}">
                <a16:creationId xmlns:a16="http://schemas.microsoft.com/office/drawing/2014/main" id="{ADA7F1B9-618F-4E66-808D-47C88E5F801D}"/>
              </a:ext>
            </a:extLst>
          </p:cNvPr>
          <p:cNvSpPr>
            <a:spLocks noGrp="1"/>
          </p:cNvSpPr>
          <p:nvPr>
            <p:ph sz="half" idx="2"/>
          </p:nvPr>
        </p:nvSpPr>
        <p:spPr>
          <a:xfrm>
            <a:off x="381700" y="2936450"/>
            <a:ext cx="5915406" cy="2989262"/>
          </a:xfrm>
        </p:spPr>
        <p:txBody>
          <a:bodyPr>
            <a:normAutofit fontScale="77500" lnSpcReduction="20000"/>
          </a:bodyPr>
          <a:lstStyle/>
          <a:p>
            <a:pPr indent="0">
              <a:lnSpc>
                <a:spcPct val="120000"/>
              </a:lnSpc>
              <a:spcBef>
                <a:spcPts val="600"/>
              </a:spcBef>
            </a:pPr>
            <a:r>
              <a:rPr lang="en-US" b="0" i="0" dirty="0">
                <a:solidFill>
                  <a:srgbClr val="444444"/>
                </a:solidFill>
                <a:effectLst/>
                <a:latin typeface="Century Gothic" panose="020B0502020202020204" pitchFamily="34" charset="0"/>
              </a:rPr>
              <a:t>Adaptor gestures that involve the </a:t>
            </a:r>
            <a:r>
              <a:rPr lang="en-US" b="1" i="0" dirty="0">
                <a:solidFill>
                  <a:srgbClr val="444444"/>
                </a:solidFill>
                <a:effectLst/>
                <a:latin typeface="Century Gothic" panose="020B0502020202020204" pitchFamily="34" charset="0"/>
              </a:rPr>
              <a:t>sensory organs</a:t>
            </a:r>
            <a:r>
              <a:rPr lang="en-US" b="0" i="0" dirty="0">
                <a:solidFill>
                  <a:srgbClr val="444444"/>
                </a:solidFill>
                <a:effectLst/>
                <a:latin typeface="Century Gothic" panose="020B0502020202020204" pitchFamily="34" charset="0"/>
              </a:rPr>
              <a:t> tend to be very revealing. Just as young children do spontaneously, covering the </a:t>
            </a:r>
            <a:r>
              <a:rPr lang="en-US" b="1" i="0" dirty="0">
                <a:solidFill>
                  <a:srgbClr val="444444"/>
                </a:solidFill>
                <a:effectLst/>
                <a:latin typeface="Century Gothic" panose="020B0502020202020204" pitchFamily="34" charset="0"/>
              </a:rPr>
              <a:t>mouth</a:t>
            </a:r>
            <a:r>
              <a:rPr lang="en-US" b="0" i="0" dirty="0">
                <a:solidFill>
                  <a:srgbClr val="444444"/>
                </a:solidFill>
                <a:effectLst/>
                <a:latin typeface="Century Gothic" panose="020B0502020202020204" pitchFamily="34" charset="0"/>
              </a:rPr>
              <a:t>, </a:t>
            </a:r>
            <a:r>
              <a:rPr lang="en-US" b="1" i="0" dirty="0">
                <a:solidFill>
                  <a:srgbClr val="444444"/>
                </a:solidFill>
                <a:effectLst/>
                <a:latin typeface="Century Gothic" panose="020B0502020202020204" pitchFamily="34" charset="0"/>
              </a:rPr>
              <a:t>nose</a:t>
            </a:r>
            <a:r>
              <a:rPr lang="en-US" b="0" i="0" dirty="0">
                <a:solidFill>
                  <a:srgbClr val="444444"/>
                </a:solidFill>
                <a:effectLst/>
                <a:latin typeface="Century Gothic" panose="020B0502020202020204" pitchFamily="34" charset="0"/>
              </a:rPr>
              <a:t>, </a:t>
            </a:r>
            <a:r>
              <a:rPr lang="en-US" b="1" i="0" dirty="0">
                <a:solidFill>
                  <a:srgbClr val="444444"/>
                </a:solidFill>
                <a:effectLst/>
                <a:latin typeface="Century Gothic" panose="020B0502020202020204" pitchFamily="34" charset="0"/>
              </a:rPr>
              <a:t>eyes </a:t>
            </a:r>
            <a:r>
              <a:rPr lang="en-US" b="0" i="0" dirty="0">
                <a:solidFill>
                  <a:srgbClr val="444444"/>
                </a:solidFill>
                <a:effectLst/>
                <a:latin typeface="Century Gothic" panose="020B0502020202020204" pitchFamily="34" charset="0"/>
              </a:rPr>
              <a:t>or </a:t>
            </a:r>
            <a:r>
              <a:rPr lang="en-US" b="1" i="0" dirty="0">
                <a:solidFill>
                  <a:srgbClr val="444444"/>
                </a:solidFill>
                <a:effectLst/>
                <a:latin typeface="Century Gothic" panose="020B0502020202020204" pitchFamily="34" charset="0"/>
              </a:rPr>
              <a:t>ears</a:t>
            </a:r>
            <a:r>
              <a:rPr lang="en-US" b="0" i="0" dirty="0">
                <a:solidFill>
                  <a:srgbClr val="444444"/>
                </a:solidFill>
                <a:effectLst/>
                <a:latin typeface="Century Gothic" panose="020B0502020202020204" pitchFamily="34" charset="0"/>
              </a:rPr>
              <a:t> can unconsciously express </a:t>
            </a:r>
            <a:r>
              <a:rPr lang="en-US" b="1" i="0" dirty="0">
                <a:solidFill>
                  <a:srgbClr val="444444"/>
                </a:solidFill>
                <a:effectLst/>
                <a:latin typeface="Century Gothic" panose="020B0502020202020204" pitchFamily="34" charset="0"/>
              </a:rPr>
              <a:t>discomfort </a:t>
            </a:r>
            <a:r>
              <a:rPr lang="en-US" b="0" i="0" dirty="0">
                <a:solidFill>
                  <a:srgbClr val="444444"/>
                </a:solidFill>
                <a:effectLst/>
                <a:latin typeface="Century Gothic" panose="020B0502020202020204" pitchFamily="34" charset="0"/>
              </a:rPr>
              <a:t>or </a:t>
            </a:r>
            <a:r>
              <a:rPr lang="en-US" b="1" i="0" dirty="0">
                <a:solidFill>
                  <a:srgbClr val="444444"/>
                </a:solidFill>
                <a:effectLst/>
                <a:latin typeface="Century Gothic" panose="020B0502020202020204" pitchFamily="34" charset="0"/>
              </a:rPr>
              <a:t>rejection </a:t>
            </a:r>
            <a:r>
              <a:rPr lang="en-US" b="0" i="0" dirty="0">
                <a:solidFill>
                  <a:srgbClr val="444444"/>
                </a:solidFill>
                <a:effectLst/>
                <a:latin typeface="Century Gothic" panose="020B0502020202020204" pitchFamily="34" charset="0"/>
              </a:rPr>
              <a:t>toward a stimulus processed by that sensory </a:t>
            </a:r>
            <a:r>
              <a:rPr lang="en-US" b="1" i="0" dirty="0">
                <a:solidFill>
                  <a:srgbClr val="444444"/>
                </a:solidFill>
                <a:effectLst/>
                <a:latin typeface="Century Gothic" panose="020B0502020202020204" pitchFamily="34" charset="0"/>
              </a:rPr>
              <a:t>channel</a:t>
            </a:r>
            <a:r>
              <a:rPr lang="en-US" b="0" i="0" dirty="0">
                <a:solidFill>
                  <a:srgbClr val="444444"/>
                </a:solidFill>
                <a:effectLst/>
                <a:latin typeface="Century Gothic" panose="020B0502020202020204" pitchFamily="34" charset="0"/>
              </a:rPr>
              <a:t>, even when done very subtly.</a:t>
            </a:r>
            <a:endParaRPr lang="en-US" dirty="0">
              <a:latin typeface="Century Gothic" panose="020B0502020202020204" pitchFamily="34" charset="0"/>
            </a:endParaRPr>
          </a:p>
        </p:txBody>
      </p:sp>
      <p:sp>
        <p:nvSpPr>
          <p:cNvPr id="5" name="Título 4">
            <a:extLst>
              <a:ext uri="{FF2B5EF4-FFF2-40B4-BE49-F238E27FC236}">
                <a16:creationId xmlns:a16="http://schemas.microsoft.com/office/drawing/2014/main" id="{83E2FC96-CB55-438E-BEA8-857416C0B2C3}"/>
              </a:ext>
            </a:extLst>
          </p:cNvPr>
          <p:cNvSpPr>
            <a:spLocks noGrp="1"/>
          </p:cNvSpPr>
          <p:nvPr>
            <p:ph type="title"/>
          </p:nvPr>
        </p:nvSpPr>
        <p:spPr/>
        <p:txBody>
          <a:bodyPr/>
          <a:lstStyle/>
          <a:p>
            <a:r>
              <a:rPr lang="en-US" dirty="0"/>
              <a:t>Decision-Making and Strategic Communication in Health</a:t>
            </a:r>
          </a:p>
        </p:txBody>
      </p:sp>
      <p:pic>
        <p:nvPicPr>
          <p:cNvPr id="9218" name="Picture 2" descr="Gesto adaptador de Emmanuel Macron">
            <a:extLst>
              <a:ext uri="{FF2B5EF4-FFF2-40B4-BE49-F238E27FC236}">
                <a16:creationId xmlns:a16="http://schemas.microsoft.com/office/drawing/2014/main" id="{1CB26C61-D01B-4745-B1D0-E84DF0AC51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6055" y="2700781"/>
            <a:ext cx="5302840" cy="2989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815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1D61174-62E8-4C6A-8F06-E03FD4FD6D72}"/>
              </a:ext>
            </a:extLst>
          </p:cNvPr>
          <p:cNvSpPr>
            <a:spLocks noGrp="1"/>
          </p:cNvSpPr>
          <p:nvPr>
            <p:ph type="body" idx="1"/>
          </p:nvPr>
        </p:nvSpPr>
        <p:spPr/>
        <p:txBody>
          <a:bodyPr/>
          <a:lstStyle/>
          <a:p>
            <a:r>
              <a:rPr lang="en-US" dirty="0">
                <a:latin typeface="Century Gothic" panose="020B0502020202020204" pitchFamily="34" charset="0"/>
              </a:rPr>
              <a:t>Pressed Lips </a:t>
            </a:r>
          </a:p>
        </p:txBody>
      </p:sp>
      <p:sp>
        <p:nvSpPr>
          <p:cNvPr id="3" name="Marcador de contenido 2">
            <a:extLst>
              <a:ext uri="{FF2B5EF4-FFF2-40B4-BE49-F238E27FC236}">
                <a16:creationId xmlns:a16="http://schemas.microsoft.com/office/drawing/2014/main" id="{D5FAF782-4E0D-4920-9A6C-4433F430D400}"/>
              </a:ext>
            </a:extLst>
          </p:cNvPr>
          <p:cNvSpPr>
            <a:spLocks noGrp="1"/>
          </p:cNvSpPr>
          <p:nvPr>
            <p:ph sz="half" idx="2"/>
          </p:nvPr>
        </p:nvSpPr>
        <p:spPr>
          <a:xfrm>
            <a:off x="6240544" y="2587659"/>
            <a:ext cx="5951456" cy="3897982"/>
          </a:xfrm>
        </p:spPr>
        <p:txBody>
          <a:bodyPr>
            <a:normAutofit fontScale="62500" lnSpcReduction="20000"/>
          </a:bodyPr>
          <a:lstStyle/>
          <a:p>
            <a:pPr marL="360000" indent="0">
              <a:lnSpc>
                <a:spcPct val="120000"/>
              </a:lnSpc>
              <a:spcBef>
                <a:spcPts val="600"/>
              </a:spcBef>
            </a:pPr>
            <a:r>
              <a:rPr lang="en-US" b="1" i="0" dirty="0">
                <a:solidFill>
                  <a:srgbClr val="444444"/>
                </a:solidFill>
                <a:effectLst/>
                <a:latin typeface="Century Gothic" panose="020B0502020202020204" pitchFamily="34" charset="0"/>
              </a:rPr>
              <a:t>Pressed lips</a:t>
            </a:r>
            <a:r>
              <a:rPr lang="en-US" b="0" i="0" dirty="0">
                <a:solidFill>
                  <a:srgbClr val="444444"/>
                </a:solidFill>
                <a:effectLst/>
                <a:latin typeface="Century Gothic" panose="020B0502020202020204" pitchFamily="34" charset="0"/>
              </a:rPr>
              <a:t> can also speak, as Donald Trump has accustomed us to. </a:t>
            </a:r>
          </a:p>
          <a:p>
            <a:pPr marL="360000" indent="0">
              <a:lnSpc>
                <a:spcPct val="120000"/>
              </a:lnSpc>
              <a:spcBef>
                <a:spcPts val="600"/>
              </a:spcBef>
            </a:pPr>
            <a:r>
              <a:rPr lang="en-US" b="0" i="0" dirty="0">
                <a:solidFill>
                  <a:srgbClr val="444444"/>
                </a:solidFill>
                <a:effectLst/>
                <a:latin typeface="Century Gothic" panose="020B0502020202020204" pitchFamily="34" charset="0"/>
              </a:rPr>
              <a:t>This way of </a:t>
            </a:r>
            <a:r>
              <a:rPr lang="en-US" b="1" i="0" dirty="0">
                <a:solidFill>
                  <a:srgbClr val="444444"/>
                </a:solidFill>
                <a:effectLst/>
                <a:latin typeface="Century Gothic" panose="020B0502020202020204" pitchFamily="34" charset="0"/>
              </a:rPr>
              <a:t>pressing</a:t>
            </a:r>
            <a:r>
              <a:rPr lang="en-US" b="0" i="0" dirty="0">
                <a:solidFill>
                  <a:srgbClr val="444444"/>
                </a:solidFill>
                <a:effectLst/>
                <a:latin typeface="Century Gothic" panose="020B0502020202020204" pitchFamily="34" charset="0"/>
              </a:rPr>
              <a:t> and </a:t>
            </a:r>
            <a:r>
              <a:rPr lang="en-US" b="1" i="0" dirty="0">
                <a:solidFill>
                  <a:srgbClr val="444444"/>
                </a:solidFill>
                <a:effectLst/>
                <a:latin typeface="Century Gothic" panose="020B0502020202020204" pitchFamily="34" charset="0"/>
              </a:rPr>
              <a:t>thinning</a:t>
            </a:r>
            <a:r>
              <a:rPr lang="en-US" b="0" i="0" dirty="0">
                <a:solidFill>
                  <a:srgbClr val="444444"/>
                </a:solidFill>
                <a:effectLst/>
                <a:latin typeface="Century Gothic" panose="020B0502020202020204" pitchFamily="34" charset="0"/>
              </a:rPr>
              <a:t> the lips, so characteristic of him, is not only a </a:t>
            </a:r>
            <a:r>
              <a:rPr lang="en-US" b="1" i="0" dirty="0">
                <a:solidFill>
                  <a:srgbClr val="444444"/>
                </a:solidFill>
                <a:effectLst/>
                <a:latin typeface="Century Gothic" panose="020B0502020202020204" pitchFamily="34" charset="0"/>
              </a:rPr>
              <a:t>facial expression</a:t>
            </a:r>
            <a:r>
              <a:rPr lang="en-US" b="0" i="0" dirty="0">
                <a:solidFill>
                  <a:srgbClr val="444444"/>
                </a:solidFill>
                <a:effectLst/>
                <a:latin typeface="Century Gothic" panose="020B0502020202020204" pitchFamily="34" charset="0"/>
              </a:rPr>
              <a:t>, but at the same time an </a:t>
            </a:r>
            <a:r>
              <a:rPr lang="en-US" b="1" i="0" dirty="0">
                <a:solidFill>
                  <a:srgbClr val="444444"/>
                </a:solidFill>
                <a:effectLst/>
                <a:latin typeface="Century Gothic" panose="020B0502020202020204" pitchFamily="34" charset="0"/>
              </a:rPr>
              <a:t>adaptor gesture</a:t>
            </a:r>
            <a:r>
              <a:rPr lang="en-US" b="0" i="0" dirty="0">
                <a:solidFill>
                  <a:srgbClr val="444444"/>
                </a:solidFill>
                <a:effectLst/>
                <a:latin typeface="Century Gothic" panose="020B0502020202020204" pitchFamily="34" charset="0"/>
              </a:rPr>
              <a:t> linked to </a:t>
            </a:r>
            <a:r>
              <a:rPr lang="en-US" b="1" i="0" dirty="0">
                <a:solidFill>
                  <a:srgbClr val="444444"/>
                </a:solidFill>
                <a:effectLst/>
                <a:latin typeface="Century Gothic" panose="020B0502020202020204" pitchFamily="34" charset="0"/>
              </a:rPr>
              <a:t>emotional repression</a:t>
            </a:r>
            <a:r>
              <a:rPr lang="en-US" b="0" i="0" dirty="0">
                <a:solidFill>
                  <a:srgbClr val="444444"/>
                </a:solidFill>
                <a:effectLst/>
                <a:latin typeface="Century Gothic" panose="020B0502020202020204" pitchFamily="34" charset="0"/>
              </a:rPr>
              <a:t>, and to the attempt to hide a </a:t>
            </a:r>
            <a:r>
              <a:rPr lang="en-US" b="1" i="0" dirty="0">
                <a:solidFill>
                  <a:srgbClr val="444444"/>
                </a:solidFill>
                <a:effectLst/>
                <a:latin typeface="Century Gothic" panose="020B0502020202020204" pitchFamily="34" charset="0"/>
              </a:rPr>
              <a:t>basic emotion</a:t>
            </a:r>
            <a:r>
              <a:rPr lang="en-US" b="0" i="0" dirty="0">
                <a:solidFill>
                  <a:srgbClr val="444444"/>
                </a:solidFill>
                <a:effectLst/>
                <a:latin typeface="Century Gothic" panose="020B0502020202020204" pitchFamily="34" charset="0"/>
              </a:rPr>
              <a:t> with negative valence, such as </a:t>
            </a:r>
            <a:r>
              <a:rPr lang="en-US" b="1" i="0" dirty="0">
                <a:solidFill>
                  <a:srgbClr val="444444"/>
                </a:solidFill>
                <a:effectLst/>
                <a:latin typeface="Century Gothic" panose="020B0502020202020204" pitchFamily="34" charset="0"/>
              </a:rPr>
              <a:t>anger</a:t>
            </a:r>
            <a:r>
              <a:rPr lang="en-US" b="0" i="0" dirty="0">
                <a:solidFill>
                  <a:srgbClr val="444444"/>
                </a:solidFill>
                <a:effectLst/>
                <a:latin typeface="Century Gothic" panose="020B0502020202020204" pitchFamily="34" charset="0"/>
              </a:rPr>
              <a:t>.</a:t>
            </a:r>
          </a:p>
          <a:p>
            <a:pPr marL="360000" indent="0">
              <a:lnSpc>
                <a:spcPct val="120000"/>
              </a:lnSpc>
              <a:spcBef>
                <a:spcPts val="600"/>
              </a:spcBef>
            </a:pPr>
            <a:r>
              <a:rPr lang="en-US" b="0" i="0" dirty="0">
                <a:solidFill>
                  <a:srgbClr val="444444"/>
                </a:solidFill>
                <a:effectLst/>
                <a:latin typeface="Century Gothic" panose="020B0502020202020204" pitchFamily="34" charset="0"/>
              </a:rPr>
              <a:t> Curiously, </a:t>
            </a:r>
            <a:r>
              <a:rPr lang="en-US" b="1" i="0" dirty="0">
                <a:solidFill>
                  <a:srgbClr val="444444"/>
                </a:solidFill>
                <a:effectLst/>
                <a:latin typeface="Century Gothic" panose="020B0502020202020204" pitchFamily="34" charset="0"/>
              </a:rPr>
              <a:t>Donald Trump</a:t>
            </a:r>
            <a:r>
              <a:rPr lang="en-US" b="0" i="0" dirty="0">
                <a:solidFill>
                  <a:srgbClr val="444444"/>
                </a:solidFill>
                <a:effectLst/>
                <a:latin typeface="Century Gothic" panose="020B0502020202020204" pitchFamily="34" charset="0"/>
              </a:rPr>
              <a:t> has internalized this gesture so deeply that it appears systematically even when he tries to put on a </a:t>
            </a:r>
            <a:r>
              <a:rPr lang="en-US" b="1" i="0" dirty="0">
                <a:solidFill>
                  <a:srgbClr val="444444"/>
                </a:solidFill>
                <a:effectLst/>
                <a:latin typeface="Century Gothic" panose="020B0502020202020204" pitchFamily="34" charset="0"/>
              </a:rPr>
              <a:t>social smile</a:t>
            </a:r>
            <a:r>
              <a:rPr lang="en-US" b="0" i="0" dirty="0">
                <a:solidFill>
                  <a:srgbClr val="444444"/>
                </a:solidFill>
                <a:effectLst/>
                <a:latin typeface="Century Gothic" panose="020B0502020202020204" pitchFamily="34" charset="0"/>
              </a:rPr>
              <a:t>.</a:t>
            </a:r>
            <a:endParaRPr lang="en-US" dirty="0">
              <a:latin typeface="Century Gothic" panose="020B0502020202020204" pitchFamily="34" charset="0"/>
            </a:endParaRPr>
          </a:p>
        </p:txBody>
      </p:sp>
      <p:sp>
        <p:nvSpPr>
          <p:cNvPr id="5" name="Título 4">
            <a:extLst>
              <a:ext uri="{FF2B5EF4-FFF2-40B4-BE49-F238E27FC236}">
                <a16:creationId xmlns:a16="http://schemas.microsoft.com/office/drawing/2014/main" id="{2A615136-CE77-4A64-AE7F-28DE4576E158}"/>
              </a:ext>
            </a:extLst>
          </p:cNvPr>
          <p:cNvSpPr>
            <a:spLocks noGrp="1"/>
          </p:cNvSpPr>
          <p:nvPr>
            <p:ph type="title"/>
          </p:nvPr>
        </p:nvSpPr>
        <p:spPr/>
        <p:txBody>
          <a:bodyPr/>
          <a:lstStyle/>
          <a:p>
            <a:r>
              <a:rPr lang="en-US" dirty="0"/>
              <a:t>Decision-Making and Strategic Communication in Health</a:t>
            </a:r>
          </a:p>
        </p:txBody>
      </p:sp>
      <p:pic>
        <p:nvPicPr>
          <p:cNvPr id="10242" name="Picture 2" descr="Donald Trump: gestos adaptadores con los labios">
            <a:extLst>
              <a:ext uri="{FF2B5EF4-FFF2-40B4-BE49-F238E27FC236}">
                <a16:creationId xmlns:a16="http://schemas.microsoft.com/office/drawing/2014/main" id="{0296F81A-D7FF-4C8B-9D69-4787E335DF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184" y="2814638"/>
            <a:ext cx="5866816" cy="2933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6404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0E6ACBF-B58A-4E6B-8D3B-D32DC0A3C8F6}"/>
              </a:ext>
            </a:extLst>
          </p:cNvPr>
          <p:cNvSpPr>
            <a:spLocks noGrp="1"/>
          </p:cNvSpPr>
          <p:nvPr>
            <p:ph type="body" idx="1"/>
          </p:nvPr>
        </p:nvSpPr>
        <p:spPr/>
        <p:txBody>
          <a:bodyPr/>
          <a:lstStyle/>
          <a:p>
            <a:r>
              <a:rPr lang="en-US" dirty="0"/>
              <a:t>Examples </a:t>
            </a:r>
          </a:p>
        </p:txBody>
      </p:sp>
      <p:sp>
        <p:nvSpPr>
          <p:cNvPr id="5" name="Título 4">
            <a:extLst>
              <a:ext uri="{FF2B5EF4-FFF2-40B4-BE49-F238E27FC236}">
                <a16:creationId xmlns:a16="http://schemas.microsoft.com/office/drawing/2014/main" id="{1DA55ACC-75D3-4B51-A1AB-1214504E6334}"/>
              </a:ext>
            </a:extLst>
          </p:cNvPr>
          <p:cNvSpPr>
            <a:spLocks noGrp="1"/>
          </p:cNvSpPr>
          <p:nvPr>
            <p:ph type="title"/>
          </p:nvPr>
        </p:nvSpPr>
        <p:spPr/>
        <p:txBody>
          <a:bodyPr/>
          <a:lstStyle/>
          <a:p>
            <a:endParaRPr lang="en-US"/>
          </a:p>
        </p:txBody>
      </p:sp>
      <p:pic>
        <p:nvPicPr>
          <p:cNvPr id="13314" name="Picture 2" descr="MSP realizó conversatorio dirigido a medios de comunicación – Ministerio de  Salud Pública">
            <a:extLst>
              <a:ext uri="{FF2B5EF4-FFF2-40B4-BE49-F238E27FC236}">
                <a16:creationId xmlns:a16="http://schemas.microsoft.com/office/drawing/2014/main" id="{7E7EC00B-9D56-4933-8903-AC2AE544127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707" y="2308273"/>
            <a:ext cx="2936114" cy="2190297"/>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Carta a la Ministra Romo - LAPALABRABIERTA">
            <a:extLst>
              <a:ext uri="{FF2B5EF4-FFF2-40B4-BE49-F238E27FC236}">
                <a16:creationId xmlns:a16="http://schemas.microsoft.com/office/drawing/2014/main" id="{23CCA462-40B4-45D6-8459-6576FFC33E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287" r="22913"/>
          <a:stretch/>
        </p:blipFill>
        <p:spPr bwMode="auto">
          <a:xfrm>
            <a:off x="4448077" y="2308273"/>
            <a:ext cx="3116776" cy="2241454"/>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Cómo salvar el gobierno de Lenín Moreno en Ecuador - The New York Times">
            <a:extLst>
              <a:ext uri="{FF2B5EF4-FFF2-40B4-BE49-F238E27FC236}">
                <a16:creationId xmlns:a16="http://schemas.microsoft.com/office/drawing/2014/main" id="{245DF4B7-4C3B-44F6-9E8A-3D1D813DE608}"/>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7517"/>
          <a:stretch/>
        </p:blipFill>
        <p:spPr bwMode="auto">
          <a:xfrm>
            <a:off x="8467976" y="2308273"/>
            <a:ext cx="2497300" cy="2310658"/>
          </a:xfrm>
          <a:prstGeom prst="rect">
            <a:avLst/>
          </a:prstGeom>
          <a:noFill/>
          <a:extLst>
            <a:ext uri="{909E8E84-426E-40DD-AFC4-6F175D3DCCD1}">
              <a14:hiddenFill xmlns:a14="http://schemas.microsoft.com/office/drawing/2010/main">
                <a:solidFill>
                  <a:srgbClr val="FFFFFF"/>
                </a:solidFill>
              </a14:hiddenFill>
            </a:ext>
          </a:extLst>
        </p:spPr>
      </p:pic>
      <p:pic>
        <p:nvPicPr>
          <p:cNvPr id="13320" name="Picture 8" descr="Correa asfixia a la prensa | Human Rights Watch">
            <a:extLst>
              <a:ext uri="{FF2B5EF4-FFF2-40B4-BE49-F238E27FC236}">
                <a16:creationId xmlns:a16="http://schemas.microsoft.com/office/drawing/2014/main" id="{F5301A80-193E-47D4-BA2F-5362518F29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6046" y="4891087"/>
            <a:ext cx="2552700" cy="1790700"/>
          </a:xfrm>
          <a:prstGeom prst="rect">
            <a:avLst/>
          </a:prstGeom>
          <a:noFill/>
          <a:extLst>
            <a:ext uri="{909E8E84-426E-40DD-AFC4-6F175D3DCCD1}">
              <a14:hiddenFill xmlns:a14="http://schemas.microsoft.com/office/drawing/2010/main">
                <a:solidFill>
                  <a:srgbClr val="FFFFFF"/>
                </a:solidFill>
              </a14:hiddenFill>
            </a:ext>
          </a:extLst>
        </p:spPr>
      </p:pic>
      <p:pic>
        <p:nvPicPr>
          <p:cNvPr id="13322" name="Picture 10" descr="Rafael Correa - Comunidad... - Rafael Correa - Comunidad">
            <a:extLst>
              <a:ext uri="{FF2B5EF4-FFF2-40B4-BE49-F238E27FC236}">
                <a16:creationId xmlns:a16="http://schemas.microsoft.com/office/drawing/2014/main" id="{4347617A-0229-4C71-B5B1-8AAD7E78CBE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8222"/>
          <a:stretch/>
        </p:blipFill>
        <p:spPr bwMode="auto">
          <a:xfrm>
            <a:off x="6626995" y="4714876"/>
            <a:ext cx="2143125" cy="1966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3669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3463CDC-9AF4-4984-9F6C-C8EB49E740A3}"/>
              </a:ext>
            </a:extLst>
          </p:cNvPr>
          <p:cNvSpPr>
            <a:spLocks noGrp="1"/>
          </p:cNvSpPr>
          <p:nvPr>
            <p:ph type="body" idx="1"/>
          </p:nvPr>
        </p:nvSpPr>
        <p:spPr/>
        <p:txBody>
          <a:bodyPr>
            <a:normAutofit/>
          </a:bodyPr>
          <a:lstStyle/>
          <a:p>
            <a:r>
              <a:rPr lang="en-US" sz="3600" dirty="0">
                <a:latin typeface="Century Gothic" panose="020B0502020202020204" pitchFamily="34" charset="0"/>
              </a:rPr>
              <a:t>Integration of Communication Skills</a:t>
            </a:r>
          </a:p>
        </p:txBody>
      </p:sp>
      <p:sp>
        <p:nvSpPr>
          <p:cNvPr id="3" name="Marcador de contenido 2">
            <a:extLst>
              <a:ext uri="{FF2B5EF4-FFF2-40B4-BE49-F238E27FC236}">
                <a16:creationId xmlns:a16="http://schemas.microsoft.com/office/drawing/2014/main" id="{77DCC59D-FC66-4DE4-94D8-532F71190121}"/>
              </a:ext>
            </a:extLst>
          </p:cNvPr>
          <p:cNvSpPr>
            <a:spLocks noGrp="1"/>
          </p:cNvSpPr>
          <p:nvPr>
            <p:ph sz="half" idx="2"/>
          </p:nvPr>
        </p:nvSpPr>
        <p:spPr>
          <a:xfrm>
            <a:off x="585415" y="2700781"/>
            <a:ext cx="6413500" cy="3492500"/>
          </a:xfrm>
        </p:spPr>
        <p:txBody>
          <a:bodyPr>
            <a:normAutofit fontScale="85000" lnSpcReduction="10000"/>
          </a:bodyPr>
          <a:lstStyle/>
          <a:p>
            <a:pPr>
              <a:lnSpc>
                <a:spcPct val="100000"/>
              </a:lnSpc>
            </a:pPr>
            <a:r>
              <a:rPr lang="en-US" dirty="0">
                <a:latin typeface="Century Gothic" panose="020B0502020202020204" pitchFamily="34" charset="0"/>
              </a:rPr>
              <a:t>Applying these skills in team meetings, patient interactions, conflict management and communication with other organizations and stakeholders is essential. </a:t>
            </a:r>
          </a:p>
          <a:p>
            <a:pPr>
              <a:lnSpc>
                <a:spcPct val="100000"/>
              </a:lnSpc>
            </a:pPr>
            <a:r>
              <a:rPr lang="en-US" dirty="0">
                <a:latin typeface="Century Gothic" panose="020B0502020202020204" pitchFamily="34" charset="0"/>
              </a:rPr>
              <a:t>Let us always remember that good communication not only conveys information, but also builds relationships and facilitates collaboration</a:t>
            </a:r>
          </a:p>
        </p:txBody>
      </p:sp>
      <p:sp>
        <p:nvSpPr>
          <p:cNvPr id="5" name="Título 4">
            <a:extLst>
              <a:ext uri="{FF2B5EF4-FFF2-40B4-BE49-F238E27FC236}">
                <a16:creationId xmlns:a16="http://schemas.microsoft.com/office/drawing/2014/main" id="{3FF124E6-38E2-4252-B088-B3DF9A7F20B6}"/>
              </a:ext>
            </a:extLst>
          </p:cNvPr>
          <p:cNvSpPr>
            <a:spLocks noGrp="1"/>
          </p:cNvSpPr>
          <p:nvPr>
            <p:ph type="title"/>
          </p:nvPr>
        </p:nvSpPr>
        <p:spPr/>
        <p:txBody>
          <a:bodyPr/>
          <a:lstStyle/>
          <a:p>
            <a:r>
              <a:rPr lang="en-US" dirty="0"/>
              <a:t>Decision-Making and Strategic Communication in Health</a:t>
            </a:r>
          </a:p>
        </p:txBody>
      </p:sp>
      <p:pic>
        <p:nvPicPr>
          <p:cNvPr id="12290" name="Picture 2" descr="Taller: habilidades Blandas y comunicativas - Educación Continua - PUCP  Educación Continua – PUCP">
            <a:extLst>
              <a:ext uri="{FF2B5EF4-FFF2-40B4-BE49-F238E27FC236}">
                <a16:creationId xmlns:a16="http://schemas.microsoft.com/office/drawing/2014/main" id="{BDA83A4C-6FD8-45BB-B2AF-7F70868D9A2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17257" y="2827687"/>
            <a:ext cx="4292871" cy="2862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792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idx="1"/>
          </p:nvPr>
        </p:nvSpPr>
        <p:spPr/>
        <p:txBody>
          <a:bodyPr>
            <a:normAutofit/>
          </a:bodyPr>
          <a:lstStyle/>
          <a:p>
            <a:r>
              <a:rPr lang="en-US" b="1" kern="0" dirty="0">
                <a:effectLst/>
                <a:latin typeface="Century Gothic" panose="020B0502020202020204" pitchFamily="34" charset="0"/>
                <a:ea typeface="Times New Roman" panose="02020603050405020304" pitchFamily="18" charset="0"/>
                <a:cs typeface="Times New Roman" panose="02020603050405020304" pitchFamily="18" charset="0"/>
              </a:rPr>
              <a:t>Strategies to Improve Communication</a:t>
            </a:r>
            <a:endParaRPr lang="en-US"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5" name="4 Título"/>
          <p:cNvSpPr>
            <a:spLocks noGrp="1"/>
          </p:cNvSpPr>
          <p:nvPr>
            <p:ph type="title"/>
          </p:nvPr>
        </p:nvSpPr>
        <p:spPr/>
        <p:txBody>
          <a:bodyPr/>
          <a:lstStyle/>
          <a:p>
            <a:r>
              <a:rPr lang="en-US" dirty="0"/>
              <a:t>Decision-Making and Strategic Communication in Health</a:t>
            </a:r>
          </a:p>
        </p:txBody>
      </p:sp>
      <p:sp>
        <p:nvSpPr>
          <p:cNvPr id="9" name="2 Marcador de contenido">
            <a:extLst>
              <a:ext uri="{FF2B5EF4-FFF2-40B4-BE49-F238E27FC236}">
                <a16:creationId xmlns:a16="http://schemas.microsoft.com/office/drawing/2014/main" id="{0F2461BB-63E7-EA7A-7A36-E84914CA590F}"/>
              </a:ext>
            </a:extLst>
          </p:cNvPr>
          <p:cNvSpPr>
            <a:spLocks noGrp="1"/>
          </p:cNvSpPr>
          <p:nvPr>
            <p:ph sz="half" idx="2"/>
          </p:nvPr>
        </p:nvSpPr>
        <p:spPr>
          <a:xfrm>
            <a:off x="4672819" y="2560320"/>
            <a:ext cx="7104185" cy="2989262"/>
          </a:xfrm>
        </p:spPr>
        <p:txBody>
          <a:bodyPr>
            <a:noAutofit/>
          </a:bodyPr>
          <a:lstStyle/>
          <a:p>
            <a:pPr>
              <a:lnSpc>
                <a:spcPct val="107000"/>
              </a:lnSpc>
              <a:spcAft>
                <a:spcPts val="800"/>
              </a:spcAft>
            </a:pPr>
            <a:r>
              <a:rPr lang="en-US" sz="1800" b="1" dirty="0">
                <a:effectLst/>
                <a:latin typeface="Century Gothic" panose="020B0502020202020204" pitchFamily="34" charset="0"/>
                <a:ea typeface="Calibri" panose="020F0502020204030204" pitchFamily="34" charset="0"/>
                <a:cs typeface="Times New Roman" panose="02020603050405020304" pitchFamily="18" charset="0"/>
              </a:rPr>
              <a:t>Continuous training:</a:t>
            </a:r>
            <a:r>
              <a:rPr lang="en-US" sz="1800" dirty="0">
                <a:effectLst/>
                <a:latin typeface="Century Gothic" panose="020B0502020202020204" pitchFamily="34" charset="0"/>
                <a:ea typeface="Calibri" panose="020F0502020204030204" pitchFamily="34" charset="0"/>
                <a:cs typeface="Times New Roman" panose="02020603050405020304" pitchFamily="18" charset="0"/>
              </a:rPr>
              <a:t> Taking part in communication courses and workshops.</a:t>
            </a:r>
          </a:p>
          <a:p>
            <a:pPr>
              <a:lnSpc>
                <a:spcPct val="107000"/>
              </a:lnSpc>
              <a:spcAft>
                <a:spcPts val="800"/>
              </a:spcAft>
            </a:pPr>
            <a:r>
              <a:rPr lang="en-US" sz="1800" b="1" dirty="0">
                <a:effectLst/>
                <a:latin typeface="Century Gothic" panose="020B0502020202020204" pitchFamily="34" charset="0"/>
                <a:ea typeface="Calibri" panose="020F0502020204030204" pitchFamily="34" charset="0"/>
                <a:cs typeface="Times New Roman" panose="02020603050405020304" pitchFamily="18" charset="0"/>
              </a:rPr>
              <a:t>Regular practice: </a:t>
            </a:r>
            <a:r>
              <a:rPr lang="en-US" sz="1800" dirty="0">
                <a:effectLst/>
                <a:latin typeface="Century Gothic" panose="020B0502020202020204" pitchFamily="34" charset="0"/>
                <a:ea typeface="Calibri" panose="020F0502020204030204" pitchFamily="34" charset="0"/>
                <a:cs typeface="Times New Roman" panose="02020603050405020304" pitchFamily="18" charset="0"/>
              </a:rPr>
              <a:t>Practicing communication and active listening techniques in daily life.</a:t>
            </a:r>
          </a:p>
          <a:p>
            <a:pPr>
              <a:lnSpc>
                <a:spcPct val="107000"/>
              </a:lnSpc>
              <a:spcAft>
                <a:spcPts val="800"/>
              </a:spcAft>
            </a:pPr>
            <a:r>
              <a:rPr lang="en-US" sz="1800" b="1" dirty="0" err="1">
                <a:effectLst/>
                <a:latin typeface="Century Gothic" panose="020B0502020202020204" pitchFamily="34" charset="0"/>
                <a:ea typeface="Calibri" panose="020F0502020204030204" pitchFamily="34" charset="0"/>
                <a:cs typeface="Times New Roman" panose="02020603050405020304" pitchFamily="18" charset="0"/>
              </a:rPr>
              <a:t>Feedback</a:t>
            </a:r>
            <a:r>
              <a:rPr lang="en-US" sz="1800" b="1" dirty="0">
                <a:effectLst/>
                <a:latin typeface="Century Gothic" panose="020B0502020202020204" pitchFamily="34" charset="0"/>
                <a:ea typeface="Calibri" panose="020F0502020204030204" pitchFamily="34" charset="0"/>
                <a:cs typeface="Times New Roman" panose="02020603050405020304" pitchFamily="18" charset="0"/>
              </a:rPr>
              <a:t>: </a:t>
            </a:r>
            <a:r>
              <a:rPr lang="en-US" sz="1800" dirty="0">
                <a:effectLst/>
                <a:latin typeface="Century Gothic" panose="020B0502020202020204" pitchFamily="34" charset="0"/>
                <a:ea typeface="Calibri" panose="020F0502020204030204" pitchFamily="34" charset="0"/>
                <a:cs typeface="Times New Roman" panose="02020603050405020304" pitchFamily="18" charset="0"/>
              </a:rPr>
              <a:t>Requesting and offering </a:t>
            </a:r>
            <a:r>
              <a:rPr lang="en-US" sz="1800" dirty="0" err="1">
                <a:effectLst/>
                <a:latin typeface="Century Gothic" panose="020B0502020202020204" pitchFamily="34" charset="0"/>
                <a:ea typeface="Calibri" panose="020F0502020204030204" pitchFamily="34" charset="0"/>
                <a:cs typeface="Times New Roman" panose="02020603050405020304" pitchFamily="18" charset="0"/>
              </a:rPr>
              <a:t>feedback</a:t>
            </a:r>
            <a:r>
              <a:rPr lang="en-US" sz="1800" dirty="0">
                <a:effectLst/>
                <a:latin typeface="Century Gothic" panose="020B0502020202020204" pitchFamily="34" charset="0"/>
                <a:ea typeface="Calibri" panose="020F0502020204030204" pitchFamily="34" charset="0"/>
                <a:cs typeface="Times New Roman" panose="02020603050405020304" pitchFamily="18" charset="0"/>
              </a:rPr>
              <a:t> to improve our skills.</a:t>
            </a:r>
          </a:p>
          <a:p>
            <a:pPr>
              <a:lnSpc>
                <a:spcPct val="107000"/>
              </a:lnSpc>
              <a:spcAft>
                <a:spcPts val="800"/>
              </a:spcAft>
            </a:pPr>
            <a:r>
              <a:rPr lang="en-US" sz="1800" b="1" dirty="0">
                <a:effectLst/>
                <a:latin typeface="Century Gothic" panose="020B0502020202020204" pitchFamily="34" charset="0"/>
                <a:ea typeface="Calibri" panose="020F0502020204030204" pitchFamily="34" charset="0"/>
                <a:cs typeface="Times New Roman" panose="02020603050405020304" pitchFamily="18" charset="0"/>
              </a:rPr>
              <a:t>Self-assessment: </a:t>
            </a:r>
            <a:r>
              <a:rPr lang="en-US" sz="1800" dirty="0">
                <a:effectLst/>
                <a:latin typeface="Century Gothic" panose="020B0502020202020204" pitchFamily="34" charset="0"/>
                <a:ea typeface="Calibri" panose="020F0502020204030204" pitchFamily="34" charset="0"/>
                <a:cs typeface="Times New Roman" panose="02020603050405020304" pitchFamily="18" charset="0"/>
              </a:rPr>
              <a:t>Reflecting on our interactions and looking for areas for improvement.</a:t>
            </a:r>
          </a:p>
        </p:txBody>
      </p:sp>
      <p:pic>
        <p:nvPicPr>
          <p:cNvPr id="6" name="Picture 2">
            <a:extLst>
              <a:ext uri="{FF2B5EF4-FFF2-40B4-BE49-F238E27FC236}">
                <a16:creationId xmlns:a16="http://schemas.microsoft.com/office/drawing/2014/main" id="{C1B8BCC0-7C22-435E-BD8E-9AF2E30A7E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0717" y="2475475"/>
            <a:ext cx="4212102" cy="4212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3363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idx="1"/>
          </p:nvPr>
        </p:nvSpPr>
        <p:spPr/>
        <p:txBody>
          <a:bodyPr>
            <a:normAutofit fontScale="85000" lnSpcReduction="20000"/>
          </a:bodyPr>
          <a:lstStyle/>
          <a:p>
            <a:r>
              <a:rPr lang="en-US" b="1" kern="0" dirty="0">
                <a:effectLst/>
                <a:latin typeface="Century Gothic" panose="020B0502020202020204" pitchFamily="34" charset="0"/>
                <a:ea typeface="Times New Roman" panose="02020603050405020304" pitchFamily="18" charset="0"/>
                <a:cs typeface="Times New Roman" panose="02020603050405020304" pitchFamily="18" charset="0"/>
              </a:rPr>
              <a:t>Impact of Effective Communication in Health Management</a:t>
            </a:r>
            <a:endParaRPr lang="en-US"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p:sp>
        <p:nvSpPr>
          <p:cNvPr id="5" name="4 Título"/>
          <p:cNvSpPr>
            <a:spLocks noGrp="1"/>
          </p:cNvSpPr>
          <p:nvPr>
            <p:ph type="title"/>
          </p:nvPr>
        </p:nvSpPr>
        <p:spPr/>
        <p:txBody>
          <a:bodyPr/>
          <a:lstStyle/>
          <a:p>
            <a:r>
              <a:rPr lang="en-US" dirty="0"/>
              <a:t>Decision-Making and Strategic Communication in Health</a:t>
            </a:r>
          </a:p>
        </p:txBody>
      </p:sp>
      <p:sp>
        <p:nvSpPr>
          <p:cNvPr id="9" name="2 Marcador de contenido">
            <a:extLst>
              <a:ext uri="{FF2B5EF4-FFF2-40B4-BE49-F238E27FC236}">
                <a16:creationId xmlns:a16="http://schemas.microsoft.com/office/drawing/2014/main" id="{0F2461BB-63E7-EA7A-7A36-E84914CA590F}"/>
              </a:ext>
            </a:extLst>
          </p:cNvPr>
          <p:cNvSpPr>
            <a:spLocks noGrp="1"/>
          </p:cNvSpPr>
          <p:nvPr>
            <p:ph sz="half" idx="2"/>
          </p:nvPr>
        </p:nvSpPr>
        <p:spPr>
          <a:xfrm>
            <a:off x="5505254" y="2560320"/>
            <a:ext cx="6271750" cy="2989262"/>
          </a:xfrm>
        </p:spPr>
        <p:txBody>
          <a:bodyPr>
            <a:noAutofit/>
          </a:bodyPr>
          <a:lstStyle/>
          <a:p>
            <a:pPr>
              <a:lnSpc>
                <a:spcPct val="107000"/>
              </a:lnSpc>
              <a:spcAft>
                <a:spcPts val="800"/>
              </a:spcAft>
            </a:pPr>
            <a:r>
              <a:rPr lang="en-US" sz="1800" b="1" dirty="0">
                <a:effectLst/>
                <a:latin typeface="Century Gothic" panose="020B0502020202020204" pitchFamily="34" charset="0"/>
                <a:ea typeface="Calibri" panose="020F0502020204030204" pitchFamily="34" charset="0"/>
                <a:cs typeface="Times New Roman" panose="02020603050405020304" pitchFamily="18" charset="0"/>
              </a:rPr>
              <a:t>Improved quality of service: </a:t>
            </a:r>
            <a:r>
              <a:rPr lang="en-US" sz="1800" dirty="0">
                <a:effectLst/>
                <a:latin typeface="Century Gothic" panose="020B0502020202020204" pitchFamily="34" charset="0"/>
                <a:ea typeface="Calibri" panose="020F0502020204030204" pitchFamily="34" charset="0"/>
                <a:cs typeface="Times New Roman" panose="02020603050405020304" pitchFamily="18" charset="0"/>
              </a:rPr>
              <a:t>Clear and effective communication can reduce errors and improve patient care.</a:t>
            </a:r>
          </a:p>
          <a:p>
            <a:pPr>
              <a:lnSpc>
                <a:spcPct val="107000"/>
              </a:lnSpc>
              <a:spcAft>
                <a:spcPts val="800"/>
              </a:spcAft>
            </a:pPr>
            <a:r>
              <a:rPr lang="en-US" sz="1800" b="1" dirty="0">
                <a:effectLst/>
                <a:latin typeface="Century Gothic" panose="020B0502020202020204" pitchFamily="34" charset="0"/>
                <a:ea typeface="Calibri" panose="020F0502020204030204" pitchFamily="34" charset="0"/>
                <a:cs typeface="Times New Roman" panose="02020603050405020304" pitchFamily="18" charset="0"/>
              </a:rPr>
              <a:t>Increased patient satisfaction: </a:t>
            </a:r>
            <a:r>
              <a:rPr lang="en-US" sz="1800" dirty="0">
                <a:effectLst/>
                <a:latin typeface="Century Gothic" panose="020B0502020202020204" pitchFamily="34" charset="0"/>
                <a:ea typeface="Calibri" panose="020F0502020204030204" pitchFamily="34" charset="0"/>
                <a:cs typeface="Times New Roman" panose="02020603050405020304" pitchFamily="18" charset="0"/>
              </a:rPr>
              <a:t>Patients feel more valued and understood when communicated with effectively.</a:t>
            </a:r>
          </a:p>
          <a:p>
            <a:pPr>
              <a:lnSpc>
                <a:spcPct val="107000"/>
              </a:lnSpc>
              <a:spcAft>
                <a:spcPts val="800"/>
              </a:spcAft>
            </a:pPr>
            <a:r>
              <a:rPr lang="en-US" sz="1800" b="1" dirty="0">
                <a:effectLst/>
                <a:latin typeface="Century Gothic" panose="020B0502020202020204" pitchFamily="34" charset="0"/>
                <a:ea typeface="Calibri" panose="020F0502020204030204" pitchFamily="34" charset="0"/>
                <a:cs typeface="Times New Roman" panose="02020603050405020304" pitchFamily="18" charset="0"/>
              </a:rPr>
              <a:t>Operational efficiency: </a:t>
            </a:r>
            <a:r>
              <a:rPr lang="en-US" sz="1800" dirty="0">
                <a:effectLst/>
                <a:latin typeface="Century Gothic" panose="020B0502020202020204" pitchFamily="34" charset="0"/>
                <a:ea typeface="Calibri" panose="020F0502020204030204" pitchFamily="34" charset="0"/>
                <a:cs typeface="Times New Roman" panose="02020603050405020304" pitchFamily="18" charset="0"/>
              </a:rPr>
              <a:t>Good communication facilitates coordination and collaboration among team members, improving operational efficiency.</a:t>
            </a:r>
          </a:p>
        </p:txBody>
      </p:sp>
      <p:pic>
        <p:nvPicPr>
          <p:cNvPr id="11266" name="Picture 2" descr="La comunicación efectiva como herramienta fundamental para el desarrollo |  by ASEA | Medium">
            <a:extLst>
              <a:ext uri="{FF2B5EF4-FFF2-40B4-BE49-F238E27FC236}">
                <a16:creationId xmlns:a16="http://schemas.microsoft.com/office/drawing/2014/main" id="{A24486CA-BD48-4D3B-A703-D2070E1197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414" y="2715313"/>
            <a:ext cx="4682822" cy="3327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3506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6309370"/>
      </p:ext>
    </p:extLst>
  </p:cSld>
  <p:clrMapOvr>
    <a:masterClrMapping/>
  </p:clrMapOvr>
</p:sld>
</file>

<file path=ppt/theme/theme1.xml><?xml version="1.0" encoding="utf-8"?>
<a:theme xmlns:a="http://schemas.openxmlformats.org/drawingml/2006/main" name="PLANTILLA UTE DISEÑO">
  <a:themeElements>
    <a:clrScheme name="Verde azulado">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1" id="{34136410-1D10-4AFC-9A9A-A8C84A3A1BB6}" vid="{EBA6BB8B-F2CA-4335-8CC4-74366978B66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8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7472F1E-44AE-4050-A293-C0B8AE3CAA47}">
  <we:reference id="wa200010001" version="1.0.0.1" store="en-US" storeType="OMEX"/>
  <we:alternateReferences>
    <we:reference id="WA200010001" version="1.0.0.1" store="" storeType="OMEX"/>
  </we:alternateReferences>
  <we:properties>
    <we:property name="claude.fileId" value="&quot;32d64cd0-44c4-465c-9091-8e4f15a353df&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3A4F3F578466CC42A8454A707F369EA6" ma:contentTypeVersion="4" ma:contentTypeDescription="Crear nuevo documento." ma:contentTypeScope="" ma:versionID="20c533439617b68cee52ed53e453914e">
  <xsd:schema xmlns:xsd="http://www.w3.org/2001/XMLSchema" xmlns:xs="http://www.w3.org/2001/XMLSchema" xmlns:p="http://schemas.microsoft.com/office/2006/metadata/properties" xmlns:ns2="2b78fc60-775b-4a60-9181-de1188c79d7e" xmlns:ns3="5dd5220e-2380-46bc-8eeb-c2f8e8562e76" targetNamespace="http://schemas.microsoft.com/office/2006/metadata/properties" ma:root="true" ma:fieldsID="c7375521e94d35ef1acf0ed12b8b119c" ns2:_="" ns3:_="">
    <xsd:import namespace="2b78fc60-775b-4a60-9181-de1188c79d7e"/>
    <xsd:import namespace="5dd5220e-2380-46bc-8eeb-c2f8e8562e7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78fc60-775b-4a60-9181-de1188c79d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dd5220e-2380-46bc-8eeb-c2f8e8562e76"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6CA396-A274-474C-949D-47B7C0B75250}">
  <ds:schemaRefs>
    <ds:schemaRef ds:uri="http://schemas.microsoft.com/sharepoint/v3/contenttype/forms"/>
  </ds:schemaRefs>
</ds:datastoreItem>
</file>

<file path=customXml/itemProps2.xml><?xml version="1.0" encoding="utf-8"?>
<ds:datastoreItem xmlns:ds="http://schemas.openxmlformats.org/officeDocument/2006/customXml" ds:itemID="{016056A6-3345-4D7C-BB62-90B8EB8FF7FE}">
  <ds:schemaRefs>
    <ds:schemaRef ds:uri="http://schemas.microsoft.com/office/2006/documentManagement/types"/>
    <ds:schemaRef ds:uri="http://purl.org/dc/elements/1.1/"/>
    <ds:schemaRef ds:uri="http://www.w3.org/XML/1998/namespace"/>
    <ds:schemaRef ds:uri="http://purl.org/dc/dcmitype/"/>
    <ds:schemaRef ds:uri="http://purl.org/dc/terms/"/>
    <ds:schemaRef ds:uri="http://schemas.microsoft.com/office/infopath/2007/PartnerControls"/>
    <ds:schemaRef ds:uri="http://schemas.microsoft.com/office/2006/metadata/properties"/>
    <ds:schemaRef ds:uri="http://schemas.openxmlformats.org/package/2006/metadata/core-properties"/>
    <ds:schemaRef ds:uri="5dd5220e-2380-46bc-8eeb-c2f8e8562e76"/>
    <ds:schemaRef ds:uri="2b78fc60-775b-4a60-9181-de1188c79d7e"/>
  </ds:schemaRefs>
</ds:datastoreItem>
</file>

<file path=customXml/itemProps3.xml><?xml version="1.0" encoding="utf-8"?>
<ds:datastoreItem xmlns:ds="http://schemas.openxmlformats.org/officeDocument/2006/customXml" ds:itemID="{AF97BBC1-A713-4201-8CE9-17E76D2A661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78fc60-775b-4a60-9181-de1188c79d7e"/>
    <ds:schemaRef ds:uri="5dd5220e-2380-46bc-8eeb-c2f8e8562e7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11589</TotalTime>
  <Words>1205</Words>
  <Application>Microsoft Office PowerPoint</Application>
  <PresentationFormat>Widescreen</PresentationFormat>
  <Paragraphs>118</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Bahnschrift SemiBold Condensed</vt:lpstr>
      <vt:lpstr>Calibri</vt:lpstr>
      <vt:lpstr>Calibri Light</vt:lpstr>
      <vt:lpstr>Century Gothic</vt:lpstr>
      <vt:lpstr>Symbol</vt:lpstr>
      <vt:lpstr>PLANTILLA UTE DISEÑO</vt:lpstr>
      <vt:lpstr>PowerPoint Presentation</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Decision-Making and Strategic Communication in Health</vt:lpstr>
      <vt:lpstr>PowerPoint Presentation</vt:lpstr>
      <vt:lpstr>Decision-Making and Strategic Communication in Health</vt:lpstr>
      <vt:lpstr>Decision-Making and Strategic Communication in Health</vt:lpstr>
      <vt:lpstr>Decision-Making and Strategic Communication in Health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Paul</dc:creator>
  <cp:lastModifiedBy>Daniel Rodriguez</cp:lastModifiedBy>
  <cp:revision>47</cp:revision>
  <dcterms:created xsi:type="dcterms:W3CDTF">2020-04-17T01:31:56Z</dcterms:created>
  <dcterms:modified xsi:type="dcterms:W3CDTF">2026-10-12T00:15:49Z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0x0101003A4F3F578466CC42A8454A707F369EA6</vt:lpwstr>
  </property>
</Properties>
</file>